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Roboto Mono" panose="00000009000000000000" pitchFamily="49"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3B4E21-E7BC-4BEB-A450-0E7E351A2DCC}" v="5" dt="2026-10-02T08:49:55.480"/>
  </p1510:revLst>
</p1510:revInfo>
</file>

<file path=ppt/tableStyles.xml><?xml version="1.0" encoding="utf-8"?>
<a:tblStyleLst xmlns:a="http://schemas.openxmlformats.org/drawingml/2006/main" def="{D596C1CA-8488-4DA9-8845-881FBA825FD5}">
  <a:tblStyle styleId="{D596C1CA-8488-4DA9-8845-881FBA825FD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9" d="100"/>
          <a:sy n="199" d="100"/>
        </p:scale>
        <p:origin x="684" y="1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us, Danu" userId="76bbb7e8-a05c-4774-86b8-3bcd1c5d58b7" providerId="ADAL" clId="{25141FD5-A6FE-43F2-8E7E-7262B0A5DBE9}"/>
    <pc:docChg chg="undo custSel modSld">
      <pc:chgData name="Caus, Danu" userId="76bbb7e8-a05c-4774-86b8-3bcd1c5d58b7" providerId="ADAL" clId="{25141FD5-A6FE-43F2-8E7E-7262B0A5DBE9}" dt="2026-10-02T10:39:46.325" v="119" actId="1076"/>
      <pc:docMkLst>
        <pc:docMk/>
      </pc:docMkLst>
      <pc:sldChg chg="addSp delSp modSp mod">
        <pc:chgData name="Caus, Danu" userId="76bbb7e8-a05c-4774-86b8-3bcd1c5d58b7" providerId="ADAL" clId="{25141FD5-A6FE-43F2-8E7E-7262B0A5DBE9}" dt="2026-10-02T10:21:33.915" v="118" actId="1036"/>
        <pc:sldMkLst>
          <pc:docMk/>
          <pc:sldMk cId="0" sldId="266"/>
        </pc:sldMkLst>
        <pc:spChg chg="mod ord">
          <ac:chgData name="Caus, Danu" userId="76bbb7e8-a05c-4774-86b8-3bcd1c5d58b7" providerId="ADAL" clId="{25141FD5-A6FE-43F2-8E7E-7262B0A5DBE9}" dt="2026-10-02T10:21:33.915" v="118" actId="1036"/>
          <ac:spMkLst>
            <pc:docMk/>
            <pc:sldMk cId="0" sldId="266"/>
            <ac:spMk id="150" creationId="{00000000-0000-0000-0000-000000000000}"/>
          </ac:spMkLst>
        </pc:spChg>
        <pc:spChg chg="mod">
          <ac:chgData name="Caus, Danu" userId="76bbb7e8-a05c-4774-86b8-3bcd1c5d58b7" providerId="ADAL" clId="{25141FD5-A6FE-43F2-8E7E-7262B0A5DBE9}" dt="2026-10-02T10:21:33.915" v="118" actId="1036"/>
          <ac:spMkLst>
            <pc:docMk/>
            <pc:sldMk cId="0" sldId="266"/>
            <ac:spMk id="151" creationId="{00000000-0000-0000-0000-000000000000}"/>
          </ac:spMkLst>
        </pc:spChg>
        <pc:picChg chg="add del mod">
          <ac:chgData name="Caus, Danu" userId="76bbb7e8-a05c-4774-86b8-3bcd1c5d58b7" providerId="ADAL" clId="{25141FD5-A6FE-43F2-8E7E-7262B0A5DBE9}" dt="2026-10-02T10:20:13.204" v="89" actId="478"/>
          <ac:picMkLst>
            <pc:docMk/>
            <pc:sldMk cId="0" sldId="266"/>
            <ac:picMk id="3" creationId="{15FE4C4C-BFD2-C976-4D67-8741E370B33D}"/>
          </ac:picMkLst>
        </pc:picChg>
        <pc:picChg chg="add mod">
          <ac:chgData name="Caus, Danu" userId="76bbb7e8-a05c-4774-86b8-3bcd1c5d58b7" providerId="ADAL" clId="{25141FD5-A6FE-43F2-8E7E-7262B0A5DBE9}" dt="2026-10-02T10:21:33.915" v="118" actId="1036"/>
          <ac:picMkLst>
            <pc:docMk/>
            <pc:sldMk cId="0" sldId="266"/>
            <ac:picMk id="5" creationId="{2FC9871A-C5D8-1FC3-4C95-8AB16689CAC1}"/>
          </ac:picMkLst>
        </pc:picChg>
        <pc:picChg chg="del">
          <ac:chgData name="Caus, Danu" userId="76bbb7e8-a05c-4774-86b8-3bcd1c5d58b7" providerId="ADAL" clId="{25141FD5-A6FE-43F2-8E7E-7262B0A5DBE9}" dt="2026-10-02T10:17:18.221" v="38" actId="478"/>
          <ac:picMkLst>
            <pc:docMk/>
            <pc:sldMk cId="0" sldId="266"/>
            <ac:picMk id="147" creationId="{00000000-0000-0000-0000-000000000000}"/>
          </ac:picMkLst>
        </pc:picChg>
      </pc:sldChg>
      <pc:sldChg chg="addSp modSp mod">
        <pc:chgData name="Caus, Danu" userId="76bbb7e8-a05c-4774-86b8-3bcd1c5d58b7" providerId="ADAL" clId="{25141FD5-A6FE-43F2-8E7E-7262B0A5DBE9}" dt="2026-10-02T09:45:55.767" v="37" actId="14100"/>
        <pc:sldMkLst>
          <pc:docMk/>
          <pc:sldMk cId="0" sldId="268"/>
        </pc:sldMkLst>
        <pc:spChg chg="mod">
          <ac:chgData name="Caus, Danu" userId="76bbb7e8-a05c-4774-86b8-3bcd1c5d58b7" providerId="ADAL" clId="{25141FD5-A6FE-43F2-8E7E-7262B0A5DBE9}" dt="2026-10-02T09:45:55.767" v="37" actId="14100"/>
          <ac:spMkLst>
            <pc:docMk/>
            <pc:sldMk cId="0" sldId="268"/>
            <ac:spMk id="174" creationId="{00000000-0000-0000-0000-000000000000}"/>
          </ac:spMkLst>
        </pc:spChg>
        <pc:picChg chg="add mod">
          <ac:chgData name="Caus, Danu" userId="76bbb7e8-a05c-4774-86b8-3bcd1c5d58b7" providerId="ADAL" clId="{25141FD5-A6FE-43F2-8E7E-7262B0A5DBE9}" dt="2026-10-02T08:59:21.078" v="28" actId="1038"/>
          <ac:picMkLst>
            <pc:docMk/>
            <pc:sldMk cId="0" sldId="268"/>
            <ac:picMk id="3" creationId="{810A5831-C36B-19E6-4216-50446040B3A4}"/>
          </ac:picMkLst>
        </pc:picChg>
        <pc:picChg chg="add mod">
          <ac:chgData name="Caus, Danu" userId="76bbb7e8-a05c-4774-86b8-3bcd1c5d58b7" providerId="ADAL" clId="{25141FD5-A6FE-43F2-8E7E-7262B0A5DBE9}" dt="2026-10-02T09:45:19.849" v="36" actId="1076"/>
          <ac:picMkLst>
            <pc:docMk/>
            <pc:sldMk cId="0" sldId="268"/>
            <ac:picMk id="4" creationId="{ADF5FD92-99C8-F9FA-FA32-28AB01958C3A}"/>
          </ac:picMkLst>
        </pc:picChg>
      </pc:sldChg>
      <pc:sldChg chg="modSp mod">
        <pc:chgData name="Caus, Danu" userId="76bbb7e8-a05c-4774-86b8-3bcd1c5d58b7" providerId="ADAL" clId="{25141FD5-A6FE-43F2-8E7E-7262B0A5DBE9}" dt="2026-10-02T10:39:46.325" v="119" actId="1076"/>
        <pc:sldMkLst>
          <pc:docMk/>
          <pc:sldMk cId="0" sldId="269"/>
        </pc:sldMkLst>
        <pc:spChg chg="mod">
          <ac:chgData name="Caus, Danu" userId="76bbb7e8-a05c-4774-86b8-3bcd1c5d58b7" providerId="ADAL" clId="{25141FD5-A6FE-43F2-8E7E-7262B0A5DBE9}" dt="2026-10-02T10:39:46.325" v="119" actId="1076"/>
          <ac:spMkLst>
            <pc:docMk/>
            <pc:sldMk cId="0" sldId="269"/>
            <ac:spMk id="183" creationId="{00000000-0000-0000-0000-000000000000}"/>
          </ac:spMkLst>
        </pc:spChg>
      </pc:sldChg>
      <pc:sldChg chg="modSp mod">
        <pc:chgData name="Caus, Danu" userId="76bbb7e8-a05c-4774-86b8-3bcd1c5d58b7" providerId="ADAL" clId="{25141FD5-A6FE-43F2-8E7E-7262B0A5DBE9}" dt="2026-10-02T09:44:29.766" v="30" actId="14100"/>
        <pc:sldMkLst>
          <pc:docMk/>
          <pc:sldMk cId="0" sldId="272"/>
        </pc:sldMkLst>
        <pc:spChg chg="mod">
          <ac:chgData name="Caus, Danu" userId="76bbb7e8-a05c-4774-86b8-3bcd1c5d58b7" providerId="ADAL" clId="{25141FD5-A6FE-43F2-8E7E-7262B0A5DBE9}" dt="2026-10-02T09:44:29.766" v="30" actId="14100"/>
          <ac:spMkLst>
            <pc:docMk/>
            <pc:sldMk cId="0" sldId="272"/>
            <ac:spMk id="225" creationId="{00000000-0000-0000-0000-000000000000}"/>
          </ac:spMkLst>
        </pc:spChg>
      </pc:sldChg>
      <pc:sldChg chg="modSp mod">
        <pc:chgData name="Caus, Danu" userId="76bbb7e8-a05c-4774-86b8-3bcd1c5d58b7" providerId="ADAL" clId="{25141FD5-A6FE-43F2-8E7E-7262B0A5DBE9}" dt="2026-10-02T08:50:19.090" v="15" actId="1076"/>
        <pc:sldMkLst>
          <pc:docMk/>
          <pc:sldMk cId="0" sldId="273"/>
        </pc:sldMkLst>
        <pc:spChg chg="mod">
          <ac:chgData name="Caus, Danu" userId="76bbb7e8-a05c-4774-86b8-3bcd1c5d58b7" providerId="ADAL" clId="{25141FD5-A6FE-43F2-8E7E-7262B0A5DBE9}" dt="2026-10-02T08:47:57.027" v="2" actId="1076"/>
          <ac:spMkLst>
            <pc:docMk/>
            <pc:sldMk cId="0" sldId="273"/>
            <ac:spMk id="237" creationId="{00000000-0000-0000-0000-000000000000}"/>
          </ac:spMkLst>
        </pc:spChg>
        <pc:spChg chg="mod">
          <ac:chgData name="Caus, Danu" userId="76bbb7e8-a05c-4774-86b8-3bcd1c5d58b7" providerId="ADAL" clId="{25141FD5-A6FE-43F2-8E7E-7262B0A5DBE9}" dt="2026-10-02T08:50:19.090" v="15" actId="1076"/>
          <ac:spMkLst>
            <pc:docMk/>
            <pc:sldMk cId="0" sldId="273"/>
            <ac:spMk id="239" creationId="{00000000-0000-0000-0000-000000000000}"/>
          </ac:spMkLst>
        </pc:spChg>
        <pc:picChg chg="mod">
          <ac:chgData name="Caus, Danu" userId="76bbb7e8-a05c-4774-86b8-3bcd1c5d58b7" providerId="ADAL" clId="{25141FD5-A6FE-43F2-8E7E-7262B0A5DBE9}" dt="2026-10-02T08:50:14.278" v="14" actId="1076"/>
          <ac:picMkLst>
            <pc:docMk/>
            <pc:sldMk cId="0" sldId="273"/>
            <ac:picMk id="238" creationId="{00000000-0000-0000-0000-000000000000}"/>
          </ac:picMkLst>
        </pc:picChg>
      </pc:sldChg>
      <pc:sldChg chg="modSp mod">
        <pc:chgData name="Caus, Danu" userId="76bbb7e8-a05c-4774-86b8-3bcd1c5d58b7" providerId="ADAL" clId="{25141FD5-A6FE-43F2-8E7E-7262B0A5DBE9}" dt="2026-10-02T08:37:05.451" v="1" actId="1076"/>
        <pc:sldMkLst>
          <pc:docMk/>
          <pc:sldMk cId="0" sldId="282"/>
        </pc:sldMkLst>
        <pc:spChg chg="mod">
          <ac:chgData name="Caus, Danu" userId="76bbb7e8-a05c-4774-86b8-3bcd1c5d58b7" providerId="ADAL" clId="{25141FD5-A6FE-43F2-8E7E-7262B0A5DBE9}" dt="2026-10-02T08:37:05.451" v="1" actId="1076"/>
          <ac:spMkLst>
            <pc:docMk/>
            <pc:sldMk cId="0" sldId="282"/>
            <ac:spMk id="3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jacobfilipp.com/DrDobbs/articles/CUJ/1994/9402/gage/gage.htm"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cdn.openai.com/better-language-models/language_models_are_unsupervised_multitask_learners.pdf" TargetMode="External"/><Relationship Id="rId4" Type="http://schemas.openxmlformats.org/officeDocument/2006/relationships/hyperlink" Target="https://aclanthology.org/P16-1162/"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arxiv.org/pdf/2207.14255"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youtu.be/zduSFxRajkE?si=jDlY1Ou2tCbawSuL&amp;t=5821"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ce8445b3a8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ce8445b3a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fbd2388946_1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fbd2388946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ce8445b3a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ce8445b3a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Gage, P. (1994).</a:t>
            </a:r>
            <a:r>
              <a:rPr lang="en">
                <a:solidFill>
                  <a:schemeClr val="dk1"/>
                </a:solidFill>
              </a:rPr>
              <a:t> </a:t>
            </a:r>
            <a:r>
              <a:rPr lang="en" i="1">
                <a:solidFill>
                  <a:schemeClr val="dk1"/>
                </a:solidFill>
              </a:rPr>
              <a:t>A New Algorithm for Data Compression.</a:t>
            </a:r>
            <a:r>
              <a:rPr lang="en">
                <a:solidFill>
                  <a:schemeClr val="dk1"/>
                </a:solidFill>
              </a:rPr>
              <a:t> C Users Journal, 12(2), 23–38.</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u="sng">
                <a:solidFill>
                  <a:schemeClr val="hlink"/>
                </a:solidFill>
                <a:hlinkClick r:id="rId3"/>
              </a:rPr>
              <a:t>https://jacobfilipp.com/DrDobbs/articles/CUJ/1994/9402/gage/gage.htm</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Sennrich, R., Haddow, B., &amp; Birch, A. (2016).</a:t>
            </a:r>
            <a:r>
              <a:rPr lang="en">
                <a:solidFill>
                  <a:schemeClr val="dk1"/>
                </a:solidFill>
              </a:rPr>
              <a:t> </a:t>
            </a:r>
            <a:r>
              <a:rPr lang="en" i="1">
                <a:solidFill>
                  <a:schemeClr val="dk1"/>
                </a:solidFill>
              </a:rPr>
              <a:t>Neural Machine Translation of Rare Words with Subword Units.</a:t>
            </a:r>
            <a:r>
              <a:rPr lang="en">
                <a:solidFill>
                  <a:schemeClr val="dk1"/>
                </a:solidFill>
              </a:rPr>
              <a:t> ACL 2016.</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u="sng">
                <a:solidFill>
                  <a:schemeClr val="hlink"/>
                </a:solidFill>
                <a:hlinkClick r:id="rId4"/>
              </a:rPr>
              <a:t>https://aclanthology.org/P16-1162/</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Radford, A., et al. (2019).</a:t>
            </a:r>
            <a:r>
              <a:rPr lang="en">
                <a:solidFill>
                  <a:schemeClr val="dk1"/>
                </a:solidFill>
              </a:rPr>
              <a:t> </a:t>
            </a:r>
            <a:r>
              <a:rPr lang="en" i="1">
                <a:solidFill>
                  <a:schemeClr val="dk1"/>
                </a:solidFill>
              </a:rPr>
              <a:t>Language Models are Unsupervised Multitask Learners.</a:t>
            </a:r>
            <a:r>
              <a:rPr lang="en">
                <a:solidFill>
                  <a:schemeClr val="dk1"/>
                </a:solidFill>
              </a:rPr>
              <a:t> OpenAI.</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u="sng">
                <a:solidFill>
                  <a:schemeClr val="hlink"/>
                </a:solidFill>
                <a:hlinkClick r:id="rId5"/>
              </a:rPr>
              <a:t>https://cdn.openai.com/better-language-models/language_models_are_unsupervised_multitask_learners.pdf</a:t>
            </a:r>
            <a:endParaRPr u="sng">
              <a:solidFill>
                <a:schemeClr val="hlink"/>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fbd2388946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fbd2388946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fbd2388946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fbd2388946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ce8445b3a8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ce8445b3a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d2388946_1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d2388946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h1e9aa48cf237b0a3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h1e9aa48cf237b0a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ce8445b3a8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ce8445b3a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fbd2388946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fbd2388946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bd2388946_1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fbd2388946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fbd2388946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fbd2388946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bd2388946_1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fbd2388946_1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bd2388946_1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fbd2388946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fbd2388946_1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fbd2388946_1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Paper link → </a:t>
            </a:r>
            <a:r>
              <a:rPr lang="en" u="sng">
                <a:solidFill>
                  <a:schemeClr val="hlink"/>
                </a:solidFill>
                <a:hlinkClick r:id="rId3"/>
              </a:rPr>
              <a:t>https://arxiv.org/pdf/2207.14255</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bd2388946_1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fbd2388946_1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fbd2388946_1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fbd2388946_1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fbd2388946_1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fbd2388946_1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fbd2388946_1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fbd2388946_1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fbd2388946_1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fbd2388946_1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bd2388946_1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fbd2388946_1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fbd2388946_1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fbd2388946_1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https://youtu.be/zduSFxRajkE?si=jDlY1Ou2tCbawSuL&amp;t=5821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bd2388946_1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fbd2388946_1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fbd2388946_1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fbd2388946_1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fbd2388946_1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fbd2388946_1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h5b8468898c724e6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h5b8468898c724e6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Char char="●"/>
              <a:defRPr sz="1800">
                <a:solidFill>
                  <a:schemeClr val="dk1"/>
                </a:solidFill>
              </a:defRPr>
            </a:lvl1pPr>
            <a:lvl2pPr marL="914400" lvl="1" indent="-317500">
              <a:lnSpc>
                <a:spcPct val="115000"/>
              </a:lnSpc>
              <a:spcBef>
                <a:spcPts val="0"/>
              </a:spcBef>
              <a:spcAft>
                <a:spcPts val="0"/>
              </a:spcAft>
              <a:buClr>
                <a:schemeClr val="dk1"/>
              </a:buClr>
              <a:buSzPts val="1400"/>
              <a:buChar char="○"/>
              <a:defRPr>
                <a:solidFill>
                  <a:schemeClr val="dk1"/>
                </a:solidFill>
              </a:defRPr>
            </a:lvl2pPr>
            <a:lvl3pPr marL="1371600" lvl="2" indent="-317500">
              <a:lnSpc>
                <a:spcPct val="115000"/>
              </a:lnSpc>
              <a:spcBef>
                <a:spcPts val="0"/>
              </a:spcBef>
              <a:spcAft>
                <a:spcPts val="0"/>
              </a:spcAft>
              <a:buClr>
                <a:schemeClr val="dk1"/>
              </a:buClr>
              <a:buSzPts val="1400"/>
              <a:buChar char="■"/>
              <a:defRPr>
                <a:solidFill>
                  <a:schemeClr val="dk1"/>
                </a:solidFill>
              </a:defRPr>
            </a:lvl3pPr>
            <a:lvl4pPr marL="1828800" lvl="3" indent="-317500">
              <a:lnSpc>
                <a:spcPct val="115000"/>
              </a:lnSpc>
              <a:spcBef>
                <a:spcPts val="0"/>
              </a:spcBef>
              <a:spcAft>
                <a:spcPts val="0"/>
              </a:spcAft>
              <a:buClr>
                <a:schemeClr val="dk1"/>
              </a:buClr>
              <a:buSzPts val="1400"/>
              <a:buChar char="●"/>
              <a:defRPr>
                <a:solidFill>
                  <a:schemeClr val="dk1"/>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huggingface.co/learn/llm-course/en/chapter6/5"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tiktokenizer.vercel.app/"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beren.io/2023-02-04-Integer-tokenization-is-insane/"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tiktokenizer.vercel.ap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www.reedbeta.com/blog/programmers-intro-to-unicode/" TargetMode="External"/><Relationship Id="rId4" Type="http://schemas.openxmlformats.org/officeDocument/2006/relationships/hyperlink" Target="https://en.wikipedia.org/wiki/UTF-8"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ucspe/UnderstandingTokenization/blob/main/BPE_Tokenizer_Notebook.ipynb"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openai/tiktoken/blob/main/tiktoken_ext/openai_public.py"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github.com/openai/tiktoken/blob/main/src/lib.r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hyperlink" Target="https://github.com/openai/tiktoke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github.com/google/sentencepiece"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openai/gpt-2/blob/master/src/encoder.py" TargetMode="External"/><Relationship Id="rId13" Type="http://schemas.openxmlformats.org/officeDocument/2006/relationships/hyperlink" Target="https://github.com/google/sentencepiece" TargetMode="External"/><Relationship Id="rId18" Type="http://schemas.openxmlformats.org/officeDocument/2006/relationships/hyperlink" Target="https://www.reedbeta.com/blog/programmers-intro-to-unicode/" TargetMode="External"/><Relationship Id="rId3" Type="http://schemas.openxmlformats.org/officeDocument/2006/relationships/hyperlink" Target="https://jacobfilipp.com/DrDobbs/articles/CUJ/1994/9402/gage/gage.htm" TargetMode="External"/><Relationship Id="rId7" Type="http://schemas.openxmlformats.org/officeDocument/2006/relationships/hyperlink" Target="https://www.youtube.com/watch?v=zduSFxRajkE" TargetMode="External"/><Relationship Id="rId12" Type="http://schemas.openxmlformats.org/officeDocument/2006/relationships/hyperlink" Target="https://github.com/openai/tiktoken#extending-tiktoken" TargetMode="External"/><Relationship Id="rId17" Type="http://schemas.openxmlformats.org/officeDocument/2006/relationships/hyperlink" Target="https://www.beren.io/2023-02-04-Integer-tokenization-is-insane/" TargetMode="External"/><Relationship Id="rId2" Type="http://schemas.openxmlformats.org/officeDocument/2006/relationships/notesSlide" Target="../notesSlides/notesSlide27.xml"/><Relationship Id="rId16" Type="http://schemas.openxmlformats.org/officeDocument/2006/relationships/hyperlink" Target="https://huggingface.co/learn/llm-course/en/chapter6/5" TargetMode="External"/><Relationship Id="rId1" Type="http://schemas.openxmlformats.org/officeDocument/2006/relationships/slideLayout" Target="../slideLayouts/slideLayout1.xml"/><Relationship Id="rId6" Type="http://schemas.openxmlformats.org/officeDocument/2006/relationships/hyperlink" Target="https://arxiv.org/abs/2207.14255" TargetMode="External"/><Relationship Id="rId11" Type="http://schemas.openxmlformats.org/officeDocument/2006/relationships/hyperlink" Target="https://github.com/openai/tiktoken/blob/main/src/lib.rs" TargetMode="External"/><Relationship Id="rId5" Type="http://schemas.openxmlformats.org/officeDocument/2006/relationships/hyperlink" Target="https://cdn.openai.com/better-language-models/language_models_are_unsupervised_multitask_learners.pdf" TargetMode="External"/><Relationship Id="rId15" Type="http://schemas.openxmlformats.org/officeDocument/2006/relationships/hyperlink" Target="https://tiktokenizer.vercel.app/" TargetMode="External"/><Relationship Id="rId10" Type="http://schemas.openxmlformats.org/officeDocument/2006/relationships/hyperlink" Target="https://github.com/openai/tiktoken/blob/main/tiktoken_ext/openai_public.py" TargetMode="External"/><Relationship Id="rId19" Type="http://schemas.openxmlformats.org/officeDocument/2006/relationships/hyperlink" Target="https://en.wikipedia.org/wiki/UTF-8" TargetMode="External"/><Relationship Id="rId4" Type="http://schemas.openxmlformats.org/officeDocument/2006/relationships/hyperlink" Target="https://arxiv.org/abs/1508.07909" TargetMode="External"/><Relationship Id="rId9" Type="http://schemas.openxmlformats.org/officeDocument/2006/relationships/hyperlink" Target="https://github.com/openai/tiktoken" TargetMode="External"/><Relationship Id="rId14" Type="http://schemas.openxmlformats.org/officeDocument/2006/relationships/hyperlink" Target="https://github.com/ducspe/UnderstandingTokenization/blob/main/BPE_Tokenizer_Notebook.ipyn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FEAFB"/>
            </a:gs>
            <a:gs pos="100000">
              <a:srgbClr val="6E9CE7"/>
            </a:gs>
          </a:gsLst>
          <a:path path="circle">
            <a:fillToRect l="50000" t="50000" r="50000" b="50000"/>
          </a:path>
          <a:tileRect/>
        </a:gradFill>
        <a:effectLst/>
      </p:bgPr>
    </p:bg>
    <p:spTree>
      <p:nvGrpSpPr>
        <p:cNvPr id="1" name="Shape 53"/>
        <p:cNvGrpSpPr/>
        <p:nvPr/>
      </p:nvGrpSpPr>
      <p:grpSpPr>
        <a:xfrm>
          <a:off x="0" y="0"/>
          <a:ext cx="0" cy="0"/>
          <a:chOff x="0" y="0"/>
          <a:chExt cx="0" cy="0"/>
        </a:xfrm>
      </p:grpSpPr>
      <p:sp>
        <p:nvSpPr>
          <p:cNvPr id="54" name="Google Shape;54;p13"/>
          <p:cNvSpPr txBox="1"/>
          <p:nvPr/>
        </p:nvSpPr>
        <p:spPr>
          <a:xfrm>
            <a:off x="777300" y="1850100"/>
            <a:ext cx="7759500" cy="144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a:solidFill>
                  <a:schemeClr val="dk1"/>
                </a:solidFill>
              </a:rPr>
              <a:t>How Do Language Models See Text?</a:t>
            </a:r>
            <a:endParaRPr sz="3300" b="1">
              <a:solidFill>
                <a:schemeClr val="dk1"/>
              </a:solidFill>
            </a:endParaRPr>
          </a:p>
          <a:p>
            <a:pPr marL="0" lvl="0" indent="0" algn="ctr" rtl="0">
              <a:spcBef>
                <a:spcPts val="0"/>
              </a:spcBef>
              <a:spcAft>
                <a:spcPts val="0"/>
              </a:spcAft>
              <a:buNone/>
            </a:pPr>
            <a:r>
              <a:rPr lang="en" sz="3300" b="1">
                <a:solidFill>
                  <a:schemeClr val="dk1"/>
                </a:solidFill>
              </a:rPr>
              <a:t>A Primer on Tokenization</a:t>
            </a:r>
            <a:endParaRPr sz="3300" b="1">
              <a:solidFill>
                <a:schemeClr val="dk1"/>
              </a:solidFill>
            </a:endParaRPr>
          </a:p>
        </p:txBody>
      </p:sp>
      <p:sp>
        <p:nvSpPr>
          <p:cNvPr id="55" name="Google Shape;55;p13"/>
          <p:cNvSpPr txBox="1"/>
          <p:nvPr/>
        </p:nvSpPr>
        <p:spPr>
          <a:xfrm>
            <a:off x="7807500" y="4714200"/>
            <a:ext cx="13365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Danu Caus</a:t>
            </a:r>
            <a:endParaRPr sz="1800">
              <a:solidFill>
                <a:schemeClr val="dk1"/>
              </a:solidFill>
            </a:endParaRPr>
          </a:p>
        </p:txBody>
      </p:sp>
      <p:sp>
        <p:nvSpPr>
          <p:cNvPr id="56" name="Google Shape;56;p13"/>
          <p:cNvSpPr txBox="1"/>
          <p:nvPr/>
        </p:nvSpPr>
        <p:spPr>
          <a:xfrm>
            <a:off x="0" y="4714200"/>
            <a:ext cx="16149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October 2026</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2469375" y="0"/>
            <a:ext cx="50052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Many LLM Quirks Start with Tokenization </a:t>
            </a:r>
            <a:endParaRPr sz="1800" b="1">
              <a:solidFill>
                <a:schemeClr val="dk1"/>
              </a:solidFill>
            </a:endParaRPr>
          </a:p>
        </p:txBody>
      </p:sp>
      <p:sp>
        <p:nvSpPr>
          <p:cNvPr id="62" name="Google Shape;62;p14"/>
          <p:cNvSpPr txBox="1"/>
          <p:nvPr/>
        </p:nvSpPr>
        <p:spPr>
          <a:xfrm>
            <a:off x="0" y="1063500"/>
            <a:ext cx="9144000" cy="31275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Letter counting:</a:t>
            </a:r>
            <a:r>
              <a:rPr lang="en" sz="1600">
                <a:solidFill>
                  <a:schemeClr val="dk1"/>
                </a:solidFill>
              </a:rPr>
              <a:t> a token can contain several letters, making character-level tasks less direct. For example, GPT-4 has incorrectly reported </a:t>
            </a:r>
            <a:r>
              <a:rPr lang="en" sz="1600" b="1">
                <a:solidFill>
                  <a:schemeClr val="dk1"/>
                </a:solidFill>
              </a:rPr>
              <a:t>two “r”s in “strawberry” instead of three</a:t>
            </a:r>
            <a:r>
              <a:rPr lang="en" sz="1600">
                <a:solidFill>
                  <a:schemeClr val="dk1"/>
                </a:solidFill>
              </a:rPr>
              <a:t>.</a:t>
            </a:r>
            <a:endParaRPr sz="1600">
              <a:solidFill>
                <a:schemeClr val="dk1"/>
              </a:solidFill>
            </a:endParaRPr>
          </a:p>
          <a:p>
            <a:pPr marL="457200" lvl="0" indent="0" algn="l" rtl="0">
              <a:lnSpc>
                <a:spcPct val="115000"/>
              </a:lnSpc>
              <a:spcBef>
                <a:spcPts val="1200"/>
              </a:spcBef>
              <a:spcAft>
                <a:spcPts val="0"/>
              </a:spcAft>
              <a:buNone/>
            </a:pP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Arithmetic:</a:t>
            </a:r>
            <a:r>
              <a:rPr lang="en" sz="1600">
                <a:solidFill>
                  <a:schemeClr val="dk1"/>
                </a:solidFill>
              </a:rPr>
              <a:t> a number such as </a:t>
            </a:r>
            <a:r>
              <a:rPr lang="en" sz="1600">
                <a:solidFill>
                  <a:schemeClr val="accent1"/>
                </a:solidFill>
                <a:latin typeface="Roboto Mono"/>
                <a:ea typeface="Roboto Mono"/>
                <a:cs typeface="Roboto Mono"/>
                <a:sym typeface="Roboto Mono"/>
              </a:rPr>
              <a:t>12345</a:t>
            </a:r>
            <a:r>
              <a:rPr lang="en" sz="1600">
                <a:solidFill>
                  <a:schemeClr val="accent1"/>
                </a:solidFill>
              </a:rPr>
              <a:t> </a:t>
            </a:r>
            <a:r>
              <a:rPr lang="en" sz="1600">
                <a:solidFill>
                  <a:schemeClr val="dk1"/>
                </a:solidFill>
              </a:rPr>
              <a:t>may split into </a:t>
            </a:r>
            <a:r>
              <a:rPr lang="en" sz="1600">
                <a:solidFill>
                  <a:srgbClr val="FF0000"/>
                </a:solidFill>
                <a:latin typeface="Roboto Mono"/>
                <a:ea typeface="Roboto Mono"/>
                <a:cs typeface="Roboto Mono"/>
                <a:sym typeface="Roboto Mono"/>
              </a:rPr>
              <a:t>123</a:t>
            </a:r>
            <a:r>
              <a:rPr lang="en" sz="1600">
                <a:solidFill>
                  <a:srgbClr val="FF0000"/>
                </a:solidFill>
              </a:rPr>
              <a:t> </a:t>
            </a:r>
            <a:r>
              <a:rPr lang="en" sz="1600">
                <a:solidFill>
                  <a:schemeClr val="dk1"/>
                </a:solidFill>
              </a:rPr>
              <a:t>and </a:t>
            </a:r>
            <a:r>
              <a:rPr lang="en" sz="1600">
                <a:solidFill>
                  <a:srgbClr val="FF9900"/>
                </a:solidFill>
                <a:latin typeface="Roboto Mono"/>
                <a:ea typeface="Roboto Mono"/>
                <a:cs typeface="Roboto Mono"/>
                <a:sym typeface="Roboto Mono"/>
              </a:rPr>
              <a:t>45</a:t>
            </a:r>
            <a:r>
              <a:rPr lang="en" sz="1600">
                <a:solidFill>
                  <a:schemeClr val="dk1"/>
                </a:solidFill>
              </a:rPr>
              <a:t>, rather than individual digits.</a:t>
            </a:r>
            <a:endParaRPr sz="1600">
              <a:solidFill>
                <a:schemeClr val="dk1"/>
              </a:solidFill>
            </a:endParaRPr>
          </a:p>
          <a:p>
            <a:pPr marL="457200" lvl="0" indent="0" algn="l" rtl="0">
              <a:lnSpc>
                <a:spcPct val="115000"/>
              </a:lnSpc>
              <a:spcBef>
                <a:spcPts val="0"/>
              </a:spcBef>
              <a:spcAft>
                <a:spcPts val="0"/>
              </a:spcAft>
              <a:buNone/>
            </a:pP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Languages:</a:t>
            </a:r>
            <a:r>
              <a:rPr lang="en" sz="1600">
                <a:solidFill>
                  <a:schemeClr val="dk1"/>
                </a:solidFill>
              </a:rPr>
              <a:t> equivalent messages can require </a:t>
            </a:r>
            <a:r>
              <a:rPr lang="en" sz="1600" b="1">
                <a:solidFill>
                  <a:schemeClr val="dk1"/>
                </a:solidFill>
              </a:rPr>
              <a:t>different numbers of tokens</a:t>
            </a:r>
            <a:r>
              <a:rPr lang="en" sz="1600">
                <a:solidFill>
                  <a:schemeClr val="dk1"/>
                </a:solidFill>
              </a:rPr>
              <a:t>, affecting context usage.</a:t>
            </a:r>
            <a:endParaRPr sz="1600">
              <a:solidFill>
                <a:schemeClr val="dk1"/>
              </a:solidFill>
            </a:endParaRPr>
          </a:p>
          <a:p>
            <a:pPr marL="457200" lvl="0" indent="0" algn="l" rtl="0">
              <a:lnSpc>
                <a:spcPct val="115000"/>
              </a:lnSpc>
              <a:spcBef>
                <a:spcPts val="0"/>
              </a:spcBef>
              <a:spcAft>
                <a:spcPts val="0"/>
              </a:spcAft>
              <a:buNone/>
            </a:pPr>
            <a:endParaRPr sz="1600">
              <a:solidFill>
                <a:schemeClr val="dk1"/>
              </a:solidFill>
            </a:endParaRPr>
          </a:p>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Programming:</a:t>
            </a:r>
            <a:r>
              <a:rPr lang="en" sz="1600">
                <a:solidFill>
                  <a:schemeClr val="dk1"/>
                </a:solidFill>
              </a:rPr>
              <a:t> whitespace tokenization affects </a:t>
            </a:r>
            <a:r>
              <a:rPr lang="en" sz="1600" b="1">
                <a:solidFill>
                  <a:schemeClr val="dk1"/>
                </a:solidFill>
              </a:rPr>
              <a:t>how much code fits</a:t>
            </a:r>
            <a:r>
              <a:rPr lang="en" sz="1600">
                <a:solidFill>
                  <a:schemeClr val="dk1"/>
                </a:solidFill>
              </a:rPr>
              <a:t> into the context window.</a:t>
            </a:r>
            <a:endParaRPr sz="1600" b="1">
              <a:solidFill>
                <a:schemeClr val="dk1"/>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p:nvPr/>
        </p:nvSpPr>
        <p:spPr>
          <a:xfrm>
            <a:off x="3216650" y="0"/>
            <a:ext cx="29688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Where the Tokenizer Fits </a:t>
            </a:r>
            <a:endParaRPr sz="1800" b="1">
              <a:solidFill>
                <a:schemeClr val="dk1"/>
              </a:solidFill>
            </a:endParaRPr>
          </a:p>
        </p:txBody>
      </p:sp>
      <p:sp>
        <p:nvSpPr>
          <p:cNvPr id="69" name="Google Shape;69;p15"/>
          <p:cNvSpPr/>
          <p:nvPr/>
        </p:nvSpPr>
        <p:spPr>
          <a:xfrm>
            <a:off x="1085900" y="3310792"/>
            <a:ext cx="1528500" cy="546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t>Tokenizer</a:t>
            </a:r>
            <a:endParaRPr sz="2000" b="1"/>
          </a:p>
        </p:txBody>
      </p:sp>
      <p:sp>
        <p:nvSpPr>
          <p:cNvPr id="70" name="Google Shape;70;p15"/>
          <p:cNvSpPr/>
          <p:nvPr/>
        </p:nvSpPr>
        <p:spPr>
          <a:xfrm>
            <a:off x="667875" y="552198"/>
            <a:ext cx="2292600" cy="117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t>Large Language Model</a:t>
            </a:r>
            <a:endParaRPr b="1"/>
          </a:p>
          <a:p>
            <a:pPr marL="0" lvl="0" indent="0" algn="ctr" rtl="0">
              <a:spcBef>
                <a:spcPts val="0"/>
              </a:spcBef>
              <a:spcAft>
                <a:spcPts val="0"/>
              </a:spcAft>
              <a:buNone/>
            </a:pPr>
            <a:r>
              <a:rPr lang="en" b="1"/>
              <a:t>LLM</a:t>
            </a:r>
            <a:endParaRPr b="1"/>
          </a:p>
        </p:txBody>
      </p:sp>
      <p:sp>
        <p:nvSpPr>
          <p:cNvPr id="71" name="Google Shape;71;p15"/>
          <p:cNvSpPr/>
          <p:nvPr/>
        </p:nvSpPr>
        <p:spPr>
          <a:xfrm>
            <a:off x="459254" y="2249825"/>
            <a:ext cx="2723100" cy="31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Sequence of token IDs</a:t>
            </a:r>
            <a:endParaRPr/>
          </a:p>
        </p:txBody>
      </p:sp>
      <p:sp>
        <p:nvSpPr>
          <p:cNvPr id="72" name="Google Shape;72;p15"/>
          <p:cNvSpPr/>
          <p:nvPr/>
        </p:nvSpPr>
        <p:spPr>
          <a:xfrm>
            <a:off x="521072" y="4459200"/>
            <a:ext cx="2536200" cy="47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Raw text strings </a:t>
            </a:r>
            <a:endParaRPr/>
          </a:p>
        </p:txBody>
      </p:sp>
      <p:sp>
        <p:nvSpPr>
          <p:cNvPr id="73" name="Google Shape;73;p15"/>
          <p:cNvSpPr/>
          <p:nvPr/>
        </p:nvSpPr>
        <p:spPr>
          <a:xfrm>
            <a:off x="2607525" y="2733947"/>
            <a:ext cx="520500" cy="15450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En</a:t>
            </a:r>
            <a:endParaRPr/>
          </a:p>
          <a:p>
            <a:pPr marL="0" lvl="0" indent="0" algn="ctr" rtl="0">
              <a:spcBef>
                <a:spcPts val="0"/>
              </a:spcBef>
              <a:spcAft>
                <a:spcPts val="0"/>
              </a:spcAft>
              <a:buNone/>
            </a:pPr>
            <a:r>
              <a:rPr lang="en"/>
              <a:t>c</a:t>
            </a:r>
            <a:endParaRPr/>
          </a:p>
          <a:p>
            <a:pPr marL="0" lvl="0" indent="0" algn="ctr" rtl="0">
              <a:spcBef>
                <a:spcPts val="0"/>
              </a:spcBef>
              <a:spcAft>
                <a:spcPts val="0"/>
              </a:spcAft>
              <a:buNone/>
            </a:pPr>
            <a:r>
              <a:rPr lang="en"/>
              <a:t>ode</a:t>
            </a:r>
            <a:endParaRPr/>
          </a:p>
        </p:txBody>
      </p:sp>
      <p:sp>
        <p:nvSpPr>
          <p:cNvPr id="74" name="Google Shape;74;p15"/>
          <p:cNvSpPr/>
          <p:nvPr/>
        </p:nvSpPr>
        <p:spPr>
          <a:xfrm>
            <a:off x="547475" y="2778375"/>
            <a:ext cx="520500" cy="15450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Decode</a:t>
            </a:r>
            <a:endParaRPr/>
          </a:p>
        </p:txBody>
      </p:sp>
      <p:sp>
        <p:nvSpPr>
          <p:cNvPr id="75" name="Google Shape;75;p15"/>
          <p:cNvSpPr/>
          <p:nvPr/>
        </p:nvSpPr>
        <p:spPr>
          <a:xfrm>
            <a:off x="1728975" y="1817400"/>
            <a:ext cx="170400" cy="3102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 name="Google Shape;76;p15"/>
          <p:cNvSpPr txBox="1"/>
          <p:nvPr/>
        </p:nvSpPr>
        <p:spPr>
          <a:xfrm>
            <a:off x="3692925" y="2778375"/>
            <a:ext cx="5017500" cy="188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tokenizer will have its own training set of documents which are used to train the vocabulary using the Byte Pair Encoding (BPE) algorithm as a one-time procedure. Once we have the </a:t>
            </a:r>
            <a:r>
              <a:rPr lang="en" sz="1800" b="1">
                <a:solidFill>
                  <a:schemeClr val="dk1"/>
                </a:solidFill>
              </a:rPr>
              <a:t>vocabulary </a:t>
            </a:r>
            <a:r>
              <a:rPr lang="en" sz="1800">
                <a:solidFill>
                  <a:schemeClr val="dk1"/>
                </a:solidFill>
              </a:rPr>
              <a:t>and the </a:t>
            </a:r>
            <a:r>
              <a:rPr lang="en" sz="1800" b="1">
                <a:solidFill>
                  <a:schemeClr val="dk1"/>
                </a:solidFill>
              </a:rPr>
              <a:t>merges</a:t>
            </a:r>
            <a:r>
              <a:rPr lang="en" sz="1800">
                <a:solidFill>
                  <a:schemeClr val="dk1"/>
                </a:solidFill>
              </a:rPr>
              <a:t>, we can do both encoding and decoding.</a:t>
            </a:r>
            <a:endParaRPr sz="1800">
              <a:solidFill>
                <a:schemeClr val="dk1"/>
              </a:solidFill>
            </a:endParaRPr>
          </a:p>
        </p:txBody>
      </p:sp>
      <p:sp>
        <p:nvSpPr>
          <p:cNvPr id="77" name="Google Shape;77;p15"/>
          <p:cNvSpPr txBox="1"/>
          <p:nvPr/>
        </p:nvSpPr>
        <p:spPr>
          <a:xfrm>
            <a:off x="3737250" y="552200"/>
            <a:ext cx="5017500" cy="10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Large Language Model (LLM) has its own training dataset, which is much larger than the dataset typically used to train the tokenizer.</a:t>
            </a:r>
            <a:endParaRPr sz="1800">
              <a:solidFill>
                <a:schemeClr val="dk1"/>
              </a:solidFill>
            </a:endParaRPr>
          </a:p>
        </p:txBody>
      </p:sp>
      <p:sp>
        <p:nvSpPr>
          <p:cNvPr id="78" name="Google Shape;7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p:nvPr/>
        </p:nvSpPr>
        <p:spPr>
          <a:xfrm>
            <a:off x="2421450" y="0"/>
            <a:ext cx="43011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Brief History of Byte Pair Encoding</a:t>
            </a:r>
            <a:endParaRPr sz="1800" b="1">
              <a:solidFill>
                <a:schemeClr val="dk1"/>
              </a:solidFill>
            </a:endParaRPr>
          </a:p>
        </p:txBody>
      </p:sp>
      <p:sp>
        <p:nvSpPr>
          <p:cNvPr id="84" name="Google Shape;8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
        <p:nvSpPr>
          <p:cNvPr id="85" name="Google Shape;85;p16"/>
          <p:cNvSpPr txBox="1"/>
          <p:nvPr/>
        </p:nvSpPr>
        <p:spPr>
          <a:xfrm>
            <a:off x="277450" y="892363"/>
            <a:ext cx="8425800" cy="32622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Byte Pair Encoding (BPE) originated as a compression algorithm.</a:t>
            </a:r>
            <a:r>
              <a:rPr lang="en" sz="1600">
                <a:solidFill>
                  <a:schemeClr val="dk1"/>
                </a:solidFill>
              </a:rPr>
              <a:t> It repeatedly replaces the most frequent pair of adjacent bytes with a single unused byte, producing a more compact representation (Gage, 1994).</a:t>
            </a:r>
            <a:endParaRPr sz="1600">
              <a:solidFill>
                <a:schemeClr val="dk1"/>
              </a:solidFill>
            </a:endParaRPr>
          </a:p>
          <a:p>
            <a:pPr marL="457200" lvl="0" indent="-330200" algn="l" rtl="0">
              <a:lnSpc>
                <a:spcPct val="115000"/>
              </a:lnSpc>
              <a:spcBef>
                <a:spcPts val="1000"/>
              </a:spcBef>
              <a:spcAft>
                <a:spcPts val="0"/>
              </a:spcAft>
              <a:buClr>
                <a:schemeClr val="dk1"/>
              </a:buClr>
              <a:buSzPts val="1600"/>
              <a:buChar char="➢"/>
            </a:pPr>
            <a:r>
              <a:rPr lang="en" sz="1600" b="1">
                <a:solidFill>
                  <a:schemeClr val="dk1"/>
                </a:solidFill>
              </a:rPr>
              <a:t>Sennrich et al. adapted BPE for subword tokenization.</a:t>
            </a:r>
            <a:r>
              <a:rPr lang="en" sz="1600">
                <a:solidFill>
                  <a:schemeClr val="dk1"/>
                </a:solidFill>
              </a:rPr>
              <a:t> Their version merges characters and character sequences into reusable pieces, helping neural machine translation models represent </a:t>
            </a:r>
            <a:r>
              <a:rPr lang="en" sz="1600" b="1">
                <a:solidFill>
                  <a:schemeClr val="dk1"/>
                </a:solidFill>
              </a:rPr>
              <a:t>rare and unseen words</a:t>
            </a:r>
            <a:r>
              <a:rPr lang="en" sz="1600">
                <a:solidFill>
                  <a:schemeClr val="dk1"/>
                </a:solidFill>
              </a:rPr>
              <a:t> (Sennrich, Haddow &amp; Birch, 2016).</a:t>
            </a:r>
            <a:endParaRPr sz="1600">
              <a:solidFill>
                <a:schemeClr val="dk1"/>
              </a:solidFill>
            </a:endParaRPr>
          </a:p>
          <a:p>
            <a:pPr marL="457200" lvl="0" indent="-330200" algn="l" rtl="0">
              <a:lnSpc>
                <a:spcPct val="115000"/>
              </a:lnSpc>
              <a:spcBef>
                <a:spcPts val="1200"/>
              </a:spcBef>
              <a:spcAft>
                <a:spcPts val="1000"/>
              </a:spcAft>
              <a:buClr>
                <a:schemeClr val="dk1"/>
              </a:buClr>
              <a:buSzPts val="1600"/>
              <a:buChar char="➢"/>
            </a:pPr>
            <a:r>
              <a:rPr lang="en" sz="1600" b="1">
                <a:solidFill>
                  <a:schemeClr val="dk1"/>
                </a:solidFill>
              </a:rPr>
              <a:t>GPT-2 used byte-level BPE for language modeling.</a:t>
            </a:r>
            <a:r>
              <a:rPr lang="en" sz="1600">
                <a:solidFill>
                  <a:schemeClr val="dk1"/>
                </a:solidFill>
              </a:rPr>
              <a:t> Starting from </a:t>
            </a:r>
            <a:r>
              <a:rPr lang="en" sz="1600" b="1">
                <a:solidFill>
                  <a:schemeClr val="dk1"/>
                </a:solidFill>
              </a:rPr>
              <a:t>256 possible byte values</a:t>
            </a:r>
            <a:r>
              <a:rPr lang="en" sz="1600">
                <a:solidFill>
                  <a:schemeClr val="dk1"/>
                </a:solidFill>
              </a:rPr>
              <a:t>, its tokenizer learns larger pieces and can encode any UTF-8 text without an unknown-character token (Radford et al., 2019).</a:t>
            </a:r>
            <a:endParaRPr sz="1600"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p:nvPr/>
        </p:nvSpPr>
        <p:spPr>
          <a:xfrm>
            <a:off x="2487300" y="0"/>
            <a:ext cx="41694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How Does BPE Create New Tokens? </a:t>
            </a:r>
            <a:endParaRPr sz="1800" b="1">
              <a:solidFill>
                <a:schemeClr val="dk1"/>
              </a:solidFill>
            </a:endParaRPr>
          </a:p>
        </p:txBody>
      </p:sp>
      <p:sp>
        <p:nvSpPr>
          <p:cNvPr id="91" name="Google Shape;91;p17"/>
          <p:cNvSpPr txBox="1"/>
          <p:nvPr/>
        </p:nvSpPr>
        <p:spPr>
          <a:xfrm>
            <a:off x="1751414" y="4549550"/>
            <a:ext cx="450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https://huggingface.co/learn/llm-course/en/chapter6/5</a:t>
            </a:r>
            <a:endParaRPr/>
          </a:p>
        </p:txBody>
      </p:sp>
      <p:sp>
        <p:nvSpPr>
          <p:cNvPr id="92" name="Google Shape;9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graphicFrame>
        <p:nvGraphicFramePr>
          <p:cNvPr id="93" name="Google Shape;93;p17"/>
          <p:cNvGraphicFramePr/>
          <p:nvPr/>
        </p:nvGraphicFramePr>
        <p:xfrm>
          <a:off x="290313" y="2028413"/>
          <a:ext cx="6631775" cy="2350399"/>
        </p:xfrm>
        <a:graphic>
          <a:graphicData uri="http://schemas.openxmlformats.org/drawingml/2006/table">
            <a:tbl>
              <a:tblPr>
                <a:noFill/>
                <a:tableStyleId>{D596C1CA-8488-4DA9-8845-881FBA825FD5}</a:tableStyleId>
              </a:tblPr>
              <a:tblGrid>
                <a:gridCol w="2178100">
                  <a:extLst>
                    <a:ext uri="{9D8B030D-6E8A-4147-A177-3AD203B41FA5}">
                      <a16:colId xmlns:a16="http://schemas.microsoft.com/office/drawing/2014/main" val="20000"/>
                    </a:ext>
                  </a:extLst>
                </a:gridCol>
                <a:gridCol w="1694975">
                  <a:extLst>
                    <a:ext uri="{9D8B030D-6E8A-4147-A177-3AD203B41FA5}">
                      <a16:colId xmlns:a16="http://schemas.microsoft.com/office/drawing/2014/main" val="20001"/>
                    </a:ext>
                  </a:extLst>
                </a:gridCol>
                <a:gridCol w="1477925">
                  <a:extLst>
                    <a:ext uri="{9D8B030D-6E8A-4147-A177-3AD203B41FA5}">
                      <a16:colId xmlns:a16="http://schemas.microsoft.com/office/drawing/2014/main" val="20002"/>
                    </a:ext>
                  </a:extLst>
                </a:gridCol>
                <a:gridCol w="1280775">
                  <a:extLst>
                    <a:ext uri="{9D8B030D-6E8A-4147-A177-3AD203B41FA5}">
                      <a16:colId xmlns:a16="http://schemas.microsoft.com/office/drawing/2014/main" val="20003"/>
                    </a:ext>
                  </a:extLst>
                </a:gridCol>
              </a:tblGrid>
              <a:tr h="320425">
                <a:tc>
                  <a:txBody>
                    <a:bodyPr/>
                    <a:lstStyle/>
                    <a:p>
                      <a:pPr marL="0" lvl="0" indent="0" algn="ctr" rtl="0">
                        <a:lnSpc>
                          <a:spcPct val="115000"/>
                        </a:lnSpc>
                        <a:spcBef>
                          <a:spcPts val="0"/>
                        </a:spcBef>
                        <a:spcAft>
                          <a:spcPts val="0"/>
                        </a:spcAft>
                        <a:buNone/>
                      </a:pPr>
                      <a:r>
                        <a:rPr lang="en" sz="1100" b="1"/>
                        <a:t>Step</a:t>
                      </a:r>
                      <a:endParaRPr sz="11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“hug” × 3</a:t>
                      </a:r>
                      <a:endParaRPr sz="11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“pug” × 2</a:t>
                      </a:r>
                      <a:endParaRPr sz="11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New token added</a:t>
                      </a:r>
                      <a:endParaRPr sz="11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36775">
                <a:tc>
                  <a:txBody>
                    <a:bodyPr/>
                    <a:lstStyle/>
                    <a:p>
                      <a:pPr marL="0" lvl="0" indent="0" algn="l" rtl="0">
                        <a:spcBef>
                          <a:spcPts val="0"/>
                        </a:spcBef>
                        <a:spcAft>
                          <a:spcPts val="0"/>
                        </a:spcAft>
                        <a:buNone/>
                      </a:pPr>
                      <a:r>
                        <a:rPr lang="en"/>
                        <a:t>Start</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  [u]  [g]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  [u]  [g]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None</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15800">
                <a:tc>
                  <a:txBody>
                    <a:bodyPr/>
                    <a:lstStyle/>
                    <a:p>
                      <a:pPr marL="0" lvl="0" indent="0" algn="l" rtl="0">
                        <a:spcBef>
                          <a:spcPts val="0"/>
                        </a:spcBef>
                        <a:spcAft>
                          <a:spcPts val="0"/>
                        </a:spcAft>
                        <a:buNone/>
                      </a:pPr>
                      <a:r>
                        <a:rPr lang="en" sz="1100"/>
                        <a:t>Merge </a:t>
                      </a:r>
                      <a:r>
                        <a:rPr lang="en" sz="1100">
                          <a:solidFill>
                            <a:schemeClr val="accent1"/>
                          </a:solidFill>
                          <a:latin typeface="Roboto Mono"/>
                          <a:ea typeface="Roboto Mono"/>
                          <a:cs typeface="Roboto Mono"/>
                          <a:sym typeface="Roboto Mono"/>
                        </a:rPr>
                        <a:t>u</a:t>
                      </a:r>
                      <a:r>
                        <a:rPr lang="en" sz="1100"/>
                        <a:t> + </a:t>
                      </a:r>
                      <a:r>
                        <a:rPr lang="en" sz="1100">
                          <a:solidFill>
                            <a:schemeClr val="accent1"/>
                          </a:solidFill>
                          <a:latin typeface="Roboto Mono"/>
                          <a:ea typeface="Roboto Mono"/>
                          <a:cs typeface="Roboto Mono"/>
                          <a:sym typeface="Roboto Mono"/>
                        </a:rPr>
                        <a:t>g</a:t>
                      </a:r>
                      <a:r>
                        <a:rPr lang="en" sz="1100"/>
                        <a:t> (5 occurrences)</a:t>
                      </a:r>
                      <a:endParaRPr sz="11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 [ug]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 [ug]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58475">
                <a:tc>
                  <a:txBody>
                    <a:bodyPr/>
                    <a:lstStyle/>
                    <a:p>
                      <a:pPr marL="0" lvl="0" indent="0" algn="l" rtl="0">
                        <a:spcBef>
                          <a:spcPts val="0"/>
                        </a:spcBef>
                        <a:spcAft>
                          <a:spcPts val="0"/>
                        </a:spcAft>
                        <a:buNone/>
                      </a:pPr>
                      <a:r>
                        <a:rPr lang="en" sz="1100"/>
                        <a:t>Merge </a:t>
                      </a:r>
                      <a:r>
                        <a:rPr lang="en" sz="1100">
                          <a:solidFill>
                            <a:schemeClr val="accent1"/>
                          </a:solidFill>
                          <a:latin typeface="Roboto Mono"/>
                          <a:ea typeface="Roboto Mono"/>
                          <a:cs typeface="Roboto Mono"/>
                          <a:sym typeface="Roboto Mono"/>
                        </a:rPr>
                        <a:t>h</a:t>
                      </a:r>
                      <a:r>
                        <a:rPr lang="en" sz="1100"/>
                        <a:t> + </a:t>
                      </a:r>
                      <a:r>
                        <a:rPr lang="en" sz="1100">
                          <a:solidFill>
                            <a:schemeClr val="accent1"/>
                          </a:solidFill>
                          <a:latin typeface="Roboto Mono"/>
                          <a:ea typeface="Roboto Mono"/>
                          <a:cs typeface="Roboto Mono"/>
                          <a:sym typeface="Roboto Mono"/>
                        </a:rPr>
                        <a:t>ug</a:t>
                      </a:r>
                      <a:r>
                        <a:rPr lang="en" sz="1100"/>
                        <a:t> (3 occurrences)</a:t>
                      </a:r>
                      <a:endParaRPr sz="11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 [ug]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27875">
                <a:tc>
                  <a:txBody>
                    <a:bodyPr/>
                    <a:lstStyle/>
                    <a:p>
                      <a:pPr marL="0" lvl="0" indent="0" algn="l" rtl="0">
                        <a:spcBef>
                          <a:spcPts val="0"/>
                        </a:spcBef>
                        <a:spcAft>
                          <a:spcPts val="0"/>
                        </a:spcAft>
                        <a:buNone/>
                      </a:pPr>
                      <a:r>
                        <a:rPr lang="en" sz="1100"/>
                        <a:t>Merge </a:t>
                      </a:r>
                      <a:r>
                        <a:rPr lang="en" sz="1100">
                          <a:solidFill>
                            <a:schemeClr val="accent1"/>
                          </a:solidFill>
                          <a:latin typeface="Roboto Mono"/>
                          <a:ea typeface="Roboto Mono"/>
                          <a:cs typeface="Roboto Mono"/>
                          <a:sym typeface="Roboto Mono"/>
                        </a:rPr>
                        <a:t>p</a:t>
                      </a:r>
                      <a:r>
                        <a:rPr lang="en" sz="1100"/>
                        <a:t> + </a:t>
                      </a:r>
                      <a:r>
                        <a:rPr lang="en" sz="1100">
                          <a:solidFill>
                            <a:schemeClr val="accent1"/>
                          </a:solidFill>
                          <a:latin typeface="Roboto Mono"/>
                          <a:ea typeface="Roboto Mono"/>
                          <a:cs typeface="Roboto Mono"/>
                          <a:sym typeface="Roboto Mono"/>
                        </a:rPr>
                        <a:t>ug</a:t>
                      </a:r>
                      <a:r>
                        <a:rPr lang="en" sz="1100"/>
                        <a:t> (2 occurrences)</a:t>
                      </a:r>
                      <a:endParaRPr sz="11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4" name="Google Shape;94;p17"/>
          <p:cNvSpPr txBox="1"/>
          <p:nvPr/>
        </p:nvSpPr>
        <p:spPr>
          <a:xfrm>
            <a:off x="176963" y="1042713"/>
            <a:ext cx="45015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500" b="1">
                <a:solidFill>
                  <a:schemeClr val="dk1"/>
                </a:solidFill>
              </a:rPr>
              <a:t>Example training text:</a:t>
            </a:r>
            <a:r>
              <a:rPr lang="en" sz="1500">
                <a:solidFill>
                  <a:schemeClr val="dk1"/>
                </a:solidFill>
              </a:rPr>
              <a:t> </a:t>
            </a:r>
            <a:r>
              <a:rPr lang="en" sz="1500">
                <a:solidFill>
                  <a:schemeClr val="accent1"/>
                </a:solidFill>
                <a:latin typeface="Roboto Mono"/>
                <a:ea typeface="Roboto Mono"/>
                <a:cs typeface="Roboto Mono"/>
                <a:sym typeface="Roboto Mono"/>
              </a:rPr>
              <a:t>hug hug hug pug pug</a:t>
            </a:r>
            <a:endParaRPr sz="1500">
              <a:solidFill>
                <a:schemeClr val="accent1"/>
              </a:solidFill>
              <a:latin typeface="Roboto Mono"/>
              <a:ea typeface="Roboto Mono"/>
              <a:cs typeface="Roboto Mono"/>
              <a:sym typeface="Roboto Mono"/>
            </a:endParaRPr>
          </a:p>
        </p:txBody>
      </p:sp>
      <p:sp>
        <p:nvSpPr>
          <p:cNvPr id="95" name="Google Shape;95;p17"/>
          <p:cNvSpPr txBox="1"/>
          <p:nvPr/>
        </p:nvSpPr>
        <p:spPr>
          <a:xfrm>
            <a:off x="7291223" y="2639475"/>
            <a:ext cx="1812600" cy="93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100">
                <a:solidFill>
                  <a:schemeClr val="dk1"/>
                </a:solidFill>
              </a:rPr>
              <a:t>Each separate block represents </a:t>
            </a:r>
            <a:r>
              <a:rPr lang="en" sz="1100" b="1">
                <a:solidFill>
                  <a:schemeClr val="dk1"/>
                </a:solidFill>
              </a:rPr>
              <a:t>one token</a:t>
            </a:r>
            <a:r>
              <a:rPr lang="en" sz="1100">
                <a:solidFill>
                  <a:schemeClr val="dk1"/>
                </a:solidFill>
              </a:rPr>
              <a:t>. We process each word separately.</a:t>
            </a:r>
            <a:endParaRPr sz="1100">
              <a:solidFill>
                <a:schemeClr val="dk1"/>
              </a:solidFill>
            </a:endParaRPr>
          </a:p>
        </p:txBody>
      </p:sp>
      <p:sp>
        <p:nvSpPr>
          <p:cNvPr id="96" name="Google Shape;96;p17"/>
          <p:cNvSpPr/>
          <p:nvPr/>
        </p:nvSpPr>
        <p:spPr>
          <a:xfrm>
            <a:off x="7073723" y="2028425"/>
            <a:ext cx="217500" cy="21678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p:nvPr/>
        </p:nvSpPr>
        <p:spPr>
          <a:xfrm>
            <a:off x="2356350" y="0"/>
            <a:ext cx="4651200" cy="472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How Training Data Shapes Tokenization</a:t>
            </a:r>
            <a:endParaRPr sz="1800" b="1">
              <a:solidFill>
                <a:schemeClr val="dk1"/>
              </a:solidFill>
            </a:endParaRPr>
          </a:p>
          <a:p>
            <a:pPr marL="0" marR="0" lvl="0" indent="0" algn="l" rtl="0">
              <a:lnSpc>
                <a:spcPct val="100000"/>
              </a:lnSpc>
              <a:spcBef>
                <a:spcPts val="0"/>
              </a:spcBef>
              <a:spcAft>
                <a:spcPts val="0"/>
              </a:spcAft>
              <a:buNone/>
            </a:pPr>
            <a:endParaRPr sz="1800" b="1">
              <a:solidFill>
                <a:schemeClr val="dk1"/>
              </a:solidFill>
            </a:endParaRPr>
          </a:p>
        </p:txBody>
      </p:sp>
      <p:sp>
        <p:nvSpPr>
          <p:cNvPr id="102" name="Google Shape;102;p18"/>
          <p:cNvSpPr txBox="1"/>
          <p:nvPr/>
        </p:nvSpPr>
        <p:spPr>
          <a:xfrm>
            <a:off x="446400" y="872325"/>
            <a:ext cx="8251200" cy="3631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Char char="●"/>
            </a:pPr>
            <a:r>
              <a:rPr lang="en" b="1">
                <a:solidFill>
                  <a:schemeClr val="dk1"/>
                </a:solidFill>
              </a:rPr>
              <a:t>Different training data.</a:t>
            </a:r>
            <a:r>
              <a:rPr lang="en">
                <a:solidFill>
                  <a:schemeClr val="dk1"/>
                </a:solidFill>
              </a:rPr>
              <a:t> The tokenizer and LLM can use different datasets, with tokenizer training typically requiring much less text.</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Frequent patterns get compact representations.</a:t>
            </a:r>
            <a:r>
              <a:rPr lang="en">
                <a:solidFill>
                  <a:schemeClr val="dk1"/>
                </a:solidFill>
              </a:rPr>
              <a:t> The training mix shapes which pieces enter the vocabulary.</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Language balance matters.</a:t>
            </a:r>
            <a:r>
              <a:rPr lang="en">
                <a:solidFill>
                  <a:schemeClr val="dk1"/>
                </a:solidFill>
              </a:rPr>
              <a:t> English-heavy data can favour compact English representations over other languages.</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Code and formatting matter too.</a:t>
            </a:r>
            <a:r>
              <a:rPr lang="en">
                <a:solidFill>
                  <a:schemeClr val="dk1"/>
                </a:solidFill>
              </a:rPr>
              <a:t> The training mix influences whitespace encoding and can favour formats such as YAML over JSON, or vice versa.</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Vocabulary choices have lasting effects.</a:t>
            </a:r>
            <a:r>
              <a:rPr lang="en">
                <a:solidFill>
                  <a:schemeClr val="dk1"/>
                </a:solidFill>
              </a:rPr>
              <a:t> The vocabulary usually stays fixed during LLM training. Fewer tokens leave </a:t>
            </a:r>
            <a:r>
              <a:rPr lang="en" b="1">
                <a:solidFill>
                  <a:schemeClr val="dk1"/>
                </a:solidFill>
              </a:rPr>
              <a:t>more room in the context window</a:t>
            </a:r>
            <a:r>
              <a:rPr lang="en">
                <a:solidFill>
                  <a:schemeClr val="dk1"/>
                </a:solidFill>
              </a:rPr>
              <a:t>.</a:t>
            </a:r>
            <a:endParaRPr>
              <a:solidFill>
                <a:schemeClr val="dk1"/>
              </a:solidFill>
            </a:endParaRPr>
          </a:p>
          <a:p>
            <a:pPr marL="0" lvl="0" indent="0" algn="l" rtl="0">
              <a:lnSpc>
                <a:spcPct val="115000"/>
              </a:lnSpc>
              <a:spcBef>
                <a:spcPts val="1000"/>
              </a:spcBef>
              <a:spcAft>
                <a:spcPts val="1000"/>
              </a:spcAft>
              <a:buNone/>
            </a:pPr>
            <a:endParaRPr b="1">
              <a:solidFill>
                <a:schemeClr val="dk1"/>
              </a:solidFill>
            </a:endParaRPr>
          </a:p>
        </p:txBody>
      </p:sp>
      <p:sp>
        <p:nvSpPr>
          <p:cNvPr id="103" name="Google Shape;10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2074725" y="0"/>
            <a:ext cx="5136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Numbers Split into Tokens of Variable Length </a:t>
            </a:r>
            <a:endParaRPr sz="1800" b="1">
              <a:solidFill>
                <a:schemeClr val="dk1"/>
              </a:solidFill>
            </a:endParaRPr>
          </a:p>
        </p:txBody>
      </p:sp>
      <p:pic>
        <p:nvPicPr>
          <p:cNvPr id="109" name="Google Shape;109;p19"/>
          <p:cNvPicPr preferRelativeResize="0"/>
          <p:nvPr/>
        </p:nvPicPr>
        <p:blipFill>
          <a:blip r:embed="rId3">
            <a:alphaModFix/>
          </a:blip>
          <a:stretch>
            <a:fillRect/>
          </a:stretch>
        </p:blipFill>
        <p:spPr>
          <a:xfrm>
            <a:off x="785713" y="777300"/>
            <a:ext cx="7572572" cy="3915700"/>
          </a:xfrm>
          <a:prstGeom prst="rect">
            <a:avLst/>
          </a:prstGeom>
          <a:noFill/>
          <a:ln>
            <a:noFill/>
          </a:ln>
        </p:spPr>
      </p:pic>
      <p:sp>
        <p:nvSpPr>
          <p:cNvPr id="110" name="Google Shape;110;p19"/>
          <p:cNvSpPr txBox="1"/>
          <p:nvPr/>
        </p:nvSpPr>
        <p:spPr>
          <a:xfrm>
            <a:off x="1075020" y="4091034"/>
            <a:ext cx="30531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u="sng">
                <a:solidFill>
                  <a:schemeClr val="hlink"/>
                </a:solidFill>
                <a:hlinkClick r:id="rId4"/>
              </a:rPr>
              <a:t>https://tiktokenizer.vercel.app/</a:t>
            </a:r>
            <a:r>
              <a:rPr lang="en" sz="1500" b="1">
                <a:solidFill>
                  <a:schemeClr val="dk1"/>
                </a:solidFill>
              </a:rPr>
              <a:t> </a:t>
            </a:r>
            <a:endParaRPr sz="1500" b="1"/>
          </a:p>
        </p:txBody>
      </p:sp>
      <p:sp>
        <p:nvSpPr>
          <p:cNvPr id="111" name="Google Shape;111;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p:nvPr/>
        </p:nvSpPr>
        <p:spPr>
          <a:xfrm>
            <a:off x="1617900" y="4369050"/>
            <a:ext cx="6568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Check the full blog post at → </a:t>
            </a:r>
            <a:r>
              <a:rPr lang="en" sz="1200" u="sng">
                <a:solidFill>
                  <a:schemeClr val="hlink"/>
                </a:solidFill>
                <a:hlinkClick r:id="rId3"/>
              </a:rPr>
              <a:t>https://www.beren.io/2023-02-04-Integer-tokenization-is-insane/</a:t>
            </a:r>
            <a:endParaRPr sz="1200"/>
          </a:p>
        </p:txBody>
      </p:sp>
      <p:sp>
        <p:nvSpPr>
          <p:cNvPr id="117" name="Google Shape;117;p20"/>
          <p:cNvSpPr txBox="1"/>
          <p:nvPr/>
        </p:nvSpPr>
        <p:spPr>
          <a:xfrm>
            <a:off x="2498215" y="25"/>
            <a:ext cx="46323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Number Tokenization in GPT-2 / GPT-3 </a:t>
            </a:r>
            <a:endParaRPr sz="1800" b="1">
              <a:solidFill>
                <a:schemeClr val="dk1"/>
              </a:solidFill>
            </a:endParaRPr>
          </a:p>
        </p:txBody>
      </p:sp>
      <p:sp>
        <p:nvSpPr>
          <p:cNvPr id="118" name="Google Shape;11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pic>
        <p:nvPicPr>
          <p:cNvPr id="119" name="Google Shape;119;p20"/>
          <p:cNvPicPr preferRelativeResize="0"/>
          <p:nvPr/>
        </p:nvPicPr>
        <p:blipFill>
          <a:blip r:embed="rId4">
            <a:alphaModFix/>
          </a:blip>
          <a:stretch>
            <a:fillRect/>
          </a:stretch>
        </p:blipFill>
        <p:spPr>
          <a:xfrm>
            <a:off x="177100" y="709650"/>
            <a:ext cx="4267200" cy="3422263"/>
          </a:xfrm>
          <a:prstGeom prst="rect">
            <a:avLst/>
          </a:prstGeom>
          <a:noFill/>
          <a:ln>
            <a:noFill/>
          </a:ln>
        </p:spPr>
      </p:pic>
      <p:sp>
        <p:nvSpPr>
          <p:cNvPr id="120" name="Google Shape;120;p20"/>
          <p:cNvSpPr txBox="1"/>
          <p:nvPr/>
        </p:nvSpPr>
        <p:spPr>
          <a:xfrm>
            <a:off x="4444300" y="919525"/>
            <a:ext cx="47139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rPr>
              <a:t>X-axis:</a:t>
            </a:r>
            <a:r>
              <a:rPr lang="en" sz="1000">
                <a:solidFill>
                  <a:schemeClr val="dk1"/>
                </a:solidFill>
              </a:rPr>
              <a:t> position within a row of 100 consecutive integers.</a:t>
            </a:r>
            <a:endParaRPr sz="1000">
              <a:solidFill>
                <a:schemeClr val="dk1"/>
              </a:solidFill>
            </a:endParaRPr>
          </a:p>
          <a:p>
            <a:pPr marL="0" lvl="0" indent="0" algn="l" rtl="0">
              <a:spcBef>
                <a:spcPts val="0"/>
              </a:spcBef>
              <a:spcAft>
                <a:spcPts val="0"/>
              </a:spcAft>
              <a:buNone/>
            </a:pPr>
            <a:r>
              <a:rPr lang="en" sz="1000" b="1">
                <a:solidFill>
                  <a:schemeClr val="dk1"/>
                </a:solidFill>
              </a:rPr>
              <a:t>Y-axis:</a:t>
            </a:r>
            <a:r>
              <a:rPr lang="en" sz="1000">
                <a:solidFill>
                  <a:schemeClr val="dk1"/>
                </a:solidFill>
              </a:rPr>
              <a:t> which block of 100 integers you are looking at. It increases </a:t>
            </a:r>
            <a:r>
              <a:rPr lang="en" sz="1000" b="1">
                <a:solidFill>
                  <a:schemeClr val="dk1"/>
                </a:solidFill>
              </a:rPr>
              <a:t>downwards</a:t>
            </a:r>
            <a:r>
              <a:rPr lang="en" sz="1000">
                <a:solidFill>
                  <a:schemeClr val="dk1"/>
                </a:solidFill>
              </a:rPr>
              <a:t>.</a:t>
            </a:r>
            <a:endParaRPr sz="1000">
              <a:solidFill>
                <a:schemeClr val="dk1"/>
              </a:solidFill>
            </a:endParaRPr>
          </a:p>
          <a:p>
            <a:pPr marL="0" lvl="0" indent="0" algn="l" rtl="0">
              <a:spcBef>
                <a:spcPts val="0"/>
              </a:spcBef>
              <a:spcAft>
                <a:spcPts val="0"/>
              </a:spcAft>
              <a:buNone/>
            </a:pPr>
            <a:r>
              <a:rPr lang="en" sz="1000">
                <a:solidFill>
                  <a:schemeClr val="dk1"/>
                </a:solidFill>
              </a:rPr>
              <a:t>Moving </a:t>
            </a:r>
            <a:r>
              <a:rPr lang="en" sz="1000" b="1">
                <a:solidFill>
                  <a:schemeClr val="dk1"/>
                </a:solidFill>
              </a:rPr>
              <a:t>one cell right</a:t>
            </a:r>
            <a:r>
              <a:rPr lang="en" sz="1000">
                <a:solidFill>
                  <a:schemeClr val="dk1"/>
                </a:solidFill>
              </a:rPr>
              <a:t> advances by </a:t>
            </a:r>
            <a:r>
              <a:rPr lang="en" sz="1000" b="1">
                <a:solidFill>
                  <a:schemeClr val="dk1"/>
                </a:solidFill>
              </a:rPr>
              <a:t>1</a:t>
            </a:r>
            <a:r>
              <a:rPr lang="en" sz="1000">
                <a:solidFill>
                  <a:schemeClr val="dk1"/>
                </a:solidFill>
              </a:rPr>
              <a:t>.</a:t>
            </a:r>
            <a:endParaRPr sz="1000">
              <a:solidFill>
                <a:schemeClr val="dk1"/>
              </a:solidFill>
            </a:endParaRPr>
          </a:p>
          <a:p>
            <a:pPr marL="0" lvl="0" indent="0" algn="l" rtl="0">
              <a:spcBef>
                <a:spcPts val="0"/>
              </a:spcBef>
              <a:spcAft>
                <a:spcPts val="0"/>
              </a:spcAft>
              <a:buNone/>
            </a:pPr>
            <a:r>
              <a:rPr lang="en" sz="1000">
                <a:solidFill>
                  <a:schemeClr val="dk1"/>
                </a:solidFill>
              </a:rPr>
              <a:t>Moving </a:t>
            </a:r>
            <a:r>
              <a:rPr lang="en" sz="1000" b="1">
                <a:solidFill>
                  <a:schemeClr val="dk1"/>
                </a:solidFill>
              </a:rPr>
              <a:t>one row down</a:t>
            </a:r>
            <a:r>
              <a:rPr lang="en" sz="1000">
                <a:solidFill>
                  <a:schemeClr val="dk1"/>
                </a:solidFill>
              </a:rPr>
              <a:t> advances by </a:t>
            </a:r>
            <a:r>
              <a:rPr lang="en" sz="1000" b="1">
                <a:solidFill>
                  <a:schemeClr val="dk1"/>
                </a:solidFill>
              </a:rPr>
              <a:t>100</a:t>
            </a:r>
            <a:r>
              <a:rPr lang="en" sz="1000">
                <a:solidFill>
                  <a:schemeClr val="dk1"/>
                </a:solidFill>
              </a:rPr>
              <a:t>.</a:t>
            </a:r>
            <a:endParaRPr sz="1000">
              <a:solidFill>
                <a:schemeClr val="dk1"/>
              </a:solidFill>
            </a:endParaRPr>
          </a:p>
        </p:txBody>
      </p:sp>
      <p:graphicFrame>
        <p:nvGraphicFramePr>
          <p:cNvPr id="121" name="Google Shape;121;p20"/>
          <p:cNvGraphicFramePr/>
          <p:nvPr/>
        </p:nvGraphicFramePr>
        <p:xfrm>
          <a:off x="3625675" y="1899150"/>
          <a:ext cx="5395475" cy="1975225"/>
        </p:xfrm>
        <a:graphic>
          <a:graphicData uri="http://schemas.openxmlformats.org/drawingml/2006/table">
            <a:tbl>
              <a:tblPr>
                <a:noFill/>
                <a:tableStyleId>{D596C1CA-8488-4DA9-8845-881FBA825FD5}</a:tableStyleId>
              </a:tblPr>
              <a:tblGrid>
                <a:gridCol w="1229925">
                  <a:extLst>
                    <a:ext uri="{9D8B030D-6E8A-4147-A177-3AD203B41FA5}">
                      <a16:colId xmlns:a16="http://schemas.microsoft.com/office/drawing/2014/main" val="20000"/>
                    </a:ext>
                  </a:extLst>
                </a:gridCol>
                <a:gridCol w="2332225">
                  <a:extLst>
                    <a:ext uri="{9D8B030D-6E8A-4147-A177-3AD203B41FA5}">
                      <a16:colId xmlns:a16="http://schemas.microsoft.com/office/drawing/2014/main" val="20001"/>
                    </a:ext>
                  </a:extLst>
                </a:gridCol>
                <a:gridCol w="1833325">
                  <a:extLst>
                    <a:ext uri="{9D8B030D-6E8A-4147-A177-3AD203B41FA5}">
                      <a16:colId xmlns:a16="http://schemas.microsoft.com/office/drawing/2014/main" val="20002"/>
                    </a:ext>
                  </a:extLst>
                </a:gridCol>
              </a:tblGrid>
              <a:tr h="402425">
                <a:tc>
                  <a:txBody>
                    <a:bodyPr/>
                    <a:lstStyle/>
                    <a:p>
                      <a:pPr marL="0" lvl="0" indent="0" algn="ctr" rtl="0">
                        <a:lnSpc>
                          <a:spcPct val="115000"/>
                        </a:lnSpc>
                        <a:spcBef>
                          <a:spcPts val="0"/>
                        </a:spcBef>
                        <a:spcAft>
                          <a:spcPts val="0"/>
                        </a:spcAft>
                        <a:buNone/>
                      </a:pPr>
                      <a:r>
                        <a:rPr lang="en" sz="800" b="1"/>
                        <a:t>Colour</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t>Meaning</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t>Example</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93200">
                <a:tc>
                  <a:txBody>
                    <a:bodyPr/>
                    <a:lstStyle/>
                    <a:p>
                      <a:pPr marL="0" lvl="0" indent="0" algn="l" rtl="0">
                        <a:spcBef>
                          <a:spcPts val="0"/>
                        </a:spcBef>
                        <a:spcAft>
                          <a:spcPts val="0"/>
                        </a:spcAft>
                        <a:buNone/>
                      </a:pPr>
                      <a:r>
                        <a:rPr lang="en" sz="800"/>
                        <a:t>Yellow: </a:t>
                      </a:r>
                      <a:r>
                        <a:rPr lang="en" sz="800" b="1"/>
                        <a:t>Unique</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The entire number is one token</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[number]</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3200">
                <a:tc>
                  <a:txBody>
                    <a:bodyPr/>
                    <a:lstStyle/>
                    <a:p>
                      <a:pPr marL="0" lvl="0" indent="0" algn="l" rtl="0">
                        <a:spcBef>
                          <a:spcPts val="0"/>
                        </a:spcBef>
                        <a:spcAft>
                          <a:spcPts val="0"/>
                        </a:spcAft>
                        <a:buNone/>
                      </a:pPr>
                      <a:r>
                        <a:rPr lang="en" sz="800"/>
                        <a:t>Red: </a:t>
                      </a:r>
                      <a:r>
                        <a:rPr lang="en" sz="800" b="1"/>
                        <a:t>1–3</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One digit, then three digits</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2249</a:t>
                      </a:r>
                      <a:r>
                        <a:rPr lang="en" sz="800">
                          <a:solidFill>
                            <a:schemeClr val="accent1"/>
                          </a:solidFill>
                        </a:rPr>
                        <a:t> → </a:t>
                      </a:r>
                      <a:r>
                        <a:rPr lang="en" sz="800">
                          <a:solidFill>
                            <a:schemeClr val="accent1"/>
                          </a:solidFill>
                          <a:latin typeface="Roboto Mono"/>
                          <a:ea typeface="Roboto Mono"/>
                          <a:cs typeface="Roboto Mono"/>
                          <a:sym typeface="Roboto Mono"/>
                        </a:rPr>
                        <a:t>[2][249]</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3200">
                <a:tc>
                  <a:txBody>
                    <a:bodyPr/>
                    <a:lstStyle/>
                    <a:p>
                      <a:pPr marL="0" lvl="0" indent="0" algn="l" rtl="0">
                        <a:spcBef>
                          <a:spcPts val="0"/>
                        </a:spcBef>
                        <a:spcAft>
                          <a:spcPts val="0"/>
                        </a:spcAft>
                        <a:buNone/>
                      </a:pPr>
                      <a:r>
                        <a:rPr lang="en" sz="800"/>
                        <a:t>Green: </a:t>
                      </a:r>
                      <a:r>
                        <a:rPr lang="en" sz="800" b="1"/>
                        <a:t>2–2</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Two digits, then two digits</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2250</a:t>
                      </a:r>
                      <a:r>
                        <a:rPr lang="en" sz="800">
                          <a:solidFill>
                            <a:schemeClr val="accent1"/>
                          </a:solidFill>
                        </a:rPr>
                        <a:t> → </a:t>
                      </a:r>
                      <a:r>
                        <a:rPr lang="en" sz="800">
                          <a:solidFill>
                            <a:schemeClr val="accent1"/>
                          </a:solidFill>
                          <a:latin typeface="Roboto Mono"/>
                          <a:ea typeface="Roboto Mono"/>
                          <a:cs typeface="Roboto Mono"/>
                          <a:sym typeface="Roboto Mono"/>
                        </a:rPr>
                        <a:t>[22][50]</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3200">
                <a:tc>
                  <a:txBody>
                    <a:bodyPr/>
                    <a:lstStyle/>
                    <a:p>
                      <a:pPr marL="0" lvl="0" indent="0" algn="l" rtl="0">
                        <a:spcBef>
                          <a:spcPts val="0"/>
                        </a:spcBef>
                        <a:spcAft>
                          <a:spcPts val="0"/>
                        </a:spcAft>
                        <a:buNone/>
                      </a:pPr>
                      <a:r>
                        <a:rPr lang="en" sz="800"/>
                        <a:t>Blue: </a:t>
                      </a:r>
                      <a:r>
                        <a:rPr lang="en" sz="800" b="1"/>
                        <a:t>3–1</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Three digits, then one digit</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2251</a:t>
                      </a:r>
                      <a:r>
                        <a:rPr lang="en" sz="800">
                          <a:solidFill>
                            <a:schemeClr val="accent1"/>
                          </a:solidFill>
                        </a:rPr>
                        <a:t> → </a:t>
                      </a:r>
                      <a:r>
                        <a:rPr lang="en" sz="800">
                          <a:solidFill>
                            <a:schemeClr val="accent1"/>
                          </a:solidFill>
                          <a:latin typeface="Roboto Mono"/>
                          <a:ea typeface="Roboto Mono"/>
                          <a:cs typeface="Roboto Mono"/>
                          <a:sym typeface="Roboto Mono"/>
                        </a:rPr>
                        <a:t>[225][1]</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
        <p:nvSpPr>
          <p:cNvPr id="127" name="Google Shape;127;p21"/>
          <p:cNvSpPr txBox="1"/>
          <p:nvPr/>
        </p:nvSpPr>
        <p:spPr>
          <a:xfrm>
            <a:off x="3694650" y="0"/>
            <a:ext cx="1740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LLM Dyslexia</a:t>
            </a:r>
            <a:endParaRPr sz="1800" b="1">
              <a:solidFill>
                <a:schemeClr val="dk1"/>
              </a:solidFill>
            </a:endParaRPr>
          </a:p>
        </p:txBody>
      </p:sp>
      <p:sp>
        <p:nvSpPr>
          <p:cNvPr id="128" name="Google Shape;128;p21"/>
          <p:cNvSpPr txBox="1"/>
          <p:nvPr/>
        </p:nvSpPr>
        <p:spPr>
          <a:xfrm>
            <a:off x="302775" y="3108375"/>
            <a:ext cx="2224200" cy="53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chemeClr val="dk1"/>
                </a:solidFill>
              </a:rPr>
              <a:t>[str][aw][berry] → 3 tokens</a:t>
            </a:r>
            <a:endParaRPr sz="1200" b="1">
              <a:solidFill>
                <a:schemeClr val="dk1"/>
              </a:solidFill>
            </a:endParaRPr>
          </a:p>
          <a:p>
            <a:pPr marL="0" lvl="0" indent="0" algn="l" rtl="0">
              <a:spcBef>
                <a:spcPts val="0"/>
              </a:spcBef>
              <a:spcAft>
                <a:spcPts val="0"/>
              </a:spcAft>
              <a:buNone/>
            </a:pPr>
            <a:r>
              <a:rPr lang="en" sz="1200" b="1">
                <a:solidFill>
                  <a:schemeClr val="dk1"/>
                </a:solidFill>
              </a:rPr>
              <a:t>[ strawberry] → 1 token</a:t>
            </a:r>
            <a:endParaRPr sz="1200" b="1">
              <a:solidFill>
                <a:schemeClr val="dk1"/>
              </a:solidFill>
            </a:endParaRPr>
          </a:p>
        </p:txBody>
      </p:sp>
      <p:sp>
        <p:nvSpPr>
          <p:cNvPr id="129" name="Google Shape;129;p21"/>
          <p:cNvSpPr txBox="1"/>
          <p:nvPr/>
        </p:nvSpPr>
        <p:spPr>
          <a:xfrm>
            <a:off x="295728" y="3817300"/>
            <a:ext cx="8707500" cy="114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For such a question, an agentic LLM can write and run a short piece of code that splits the word into letters and counts them.</a:t>
            </a:r>
            <a:endParaRPr sz="1200">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Clr>
                <a:schemeClr val="dk1"/>
              </a:buClr>
              <a:buSzPts val="1100"/>
              <a:buFont typeface="Arial"/>
              <a:buNone/>
            </a:pPr>
            <a:r>
              <a:rPr lang="en" sz="1200" b="1">
                <a:solidFill>
                  <a:srgbClr val="FF0000"/>
                </a:solidFill>
              </a:rPr>
              <a:t>It's important to develop an intuition about when to ask the LLM to do things via code and when to trust its outputs without additional tools.</a:t>
            </a:r>
            <a:endParaRPr sz="1200" b="1">
              <a:solidFill>
                <a:srgbClr val="FF0000"/>
              </a:solidFill>
            </a:endParaRPr>
          </a:p>
        </p:txBody>
      </p:sp>
      <p:pic>
        <p:nvPicPr>
          <p:cNvPr id="130" name="Google Shape;130;p21"/>
          <p:cNvPicPr preferRelativeResize="0"/>
          <p:nvPr/>
        </p:nvPicPr>
        <p:blipFill>
          <a:blip r:embed="rId3">
            <a:alphaModFix/>
          </a:blip>
          <a:stretch>
            <a:fillRect/>
          </a:stretch>
        </p:blipFill>
        <p:spPr>
          <a:xfrm>
            <a:off x="320700" y="535200"/>
            <a:ext cx="8502598" cy="2332294"/>
          </a:xfrm>
          <a:prstGeom prst="rect">
            <a:avLst/>
          </a:prstGeom>
          <a:noFill/>
          <a:ln>
            <a:noFill/>
          </a:ln>
        </p:spPr>
      </p:pic>
      <p:sp>
        <p:nvSpPr>
          <p:cNvPr id="131" name="Google Shape;131;p21"/>
          <p:cNvSpPr/>
          <p:nvPr/>
        </p:nvSpPr>
        <p:spPr>
          <a:xfrm>
            <a:off x="2473184" y="3207978"/>
            <a:ext cx="143400" cy="393600"/>
          </a:xfrm>
          <a:prstGeom prst="rightBrace">
            <a:avLst>
              <a:gd name="adj1" fmla="val 50000"/>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 name="Google Shape;132;p21"/>
          <p:cNvSpPr txBox="1"/>
          <p:nvPr/>
        </p:nvSpPr>
        <p:spPr>
          <a:xfrm>
            <a:off x="2616590" y="3207976"/>
            <a:ext cx="5842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Same word, different IDs: the model sees token IDs, not letters. </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p:nvPr/>
        </p:nvSpPr>
        <p:spPr>
          <a:xfrm>
            <a:off x="2139164" y="0"/>
            <a:ext cx="48072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Not All Languages Are Tokenized Equally </a:t>
            </a:r>
            <a:endParaRPr sz="1800" b="1">
              <a:solidFill>
                <a:schemeClr val="dk1"/>
              </a:solidFill>
            </a:endParaRPr>
          </a:p>
        </p:txBody>
      </p:sp>
      <p:sp>
        <p:nvSpPr>
          <p:cNvPr id="138" name="Google Shape;138;p22"/>
          <p:cNvSpPr txBox="1"/>
          <p:nvPr/>
        </p:nvSpPr>
        <p:spPr>
          <a:xfrm>
            <a:off x="434000" y="4369350"/>
            <a:ext cx="7796700" cy="65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solidFill>
                  <a:schemeClr val="dk1"/>
                </a:solidFill>
              </a:rPr>
              <a:t>English dominates online text, so both the LLM and its tokenizer see more of it, and English ends up tokenized more compactly. </a:t>
            </a:r>
            <a:endParaRPr sz="1500">
              <a:solidFill>
                <a:schemeClr val="dk1"/>
              </a:solidFill>
            </a:endParaRPr>
          </a:p>
        </p:txBody>
      </p:sp>
      <p:pic>
        <p:nvPicPr>
          <p:cNvPr id="139" name="Google Shape;139;p22"/>
          <p:cNvPicPr preferRelativeResize="0"/>
          <p:nvPr/>
        </p:nvPicPr>
        <p:blipFill>
          <a:blip r:embed="rId3">
            <a:alphaModFix/>
          </a:blip>
          <a:stretch>
            <a:fillRect/>
          </a:stretch>
        </p:blipFill>
        <p:spPr>
          <a:xfrm>
            <a:off x="946500" y="624900"/>
            <a:ext cx="6771696" cy="3744449"/>
          </a:xfrm>
          <a:prstGeom prst="rect">
            <a:avLst/>
          </a:prstGeom>
          <a:noFill/>
          <a:ln>
            <a:noFill/>
          </a:ln>
        </p:spPr>
      </p:pic>
      <p:sp>
        <p:nvSpPr>
          <p:cNvPr id="140" name="Google Shape;140;p22"/>
          <p:cNvSpPr txBox="1"/>
          <p:nvPr/>
        </p:nvSpPr>
        <p:spPr>
          <a:xfrm>
            <a:off x="1494275" y="3634675"/>
            <a:ext cx="215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u="sng">
                <a:solidFill>
                  <a:schemeClr val="hlink"/>
                </a:solidFill>
                <a:hlinkClick r:id="rId4"/>
              </a:rPr>
              <a:t>https://tiktokenizer.vercel.app/</a:t>
            </a:r>
            <a:r>
              <a:rPr lang="en" sz="1100">
                <a:solidFill>
                  <a:schemeClr val="dk1"/>
                </a:solidFill>
              </a:rPr>
              <a:t> </a:t>
            </a:r>
            <a:endParaRPr/>
          </a:p>
        </p:txBody>
      </p:sp>
      <p:sp>
        <p:nvSpPr>
          <p:cNvPr id="141" name="Google Shape;14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3"/>
          <p:cNvPicPr preferRelativeResize="0"/>
          <p:nvPr/>
        </p:nvPicPr>
        <p:blipFill>
          <a:blip r:embed="rId3">
            <a:alphaModFix/>
          </a:blip>
          <a:stretch>
            <a:fillRect/>
          </a:stretch>
        </p:blipFill>
        <p:spPr>
          <a:xfrm>
            <a:off x="151200" y="2663725"/>
            <a:ext cx="6598751" cy="1573325"/>
          </a:xfrm>
          <a:prstGeom prst="rect">
            <a:avLst/>
          </a:prstGeom>
          <a:noFill/>
          <a:ln>
            <a:noFill/>
          </a:ln>
        </p:spPr>
      </p:pic>
      <p:sp>
        <p:nvSpPr>
          <p:cNvPr id="148" name="Google Shape;148;p23"/>
          <p:cNvSpPr txBox="1"/>
          <p:nvPr/>
        </p:nvSpPr>
        <p:spPr>
          <a:xfrm>
            <a:off x="3147600" y="0"/>
            <a:ext cx="29619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Tokenizing Source Code</a:t>
            </a:r>
            <a:endParaRPr sz="1800" b="1">
              <a:solidFill>
                <a:schemeClr val="dk1"/>
              </a:solidFill>
            </a:endParaRPr>
          </a:p>
        </p:txBody>
      </p:sp>
      <p:sp>
        <p:nvSpPr>
          <p:cNvPr id="149" name="Google Shape;149;p23"/>
          <p:cNvSpPr txBox="1"/>
          <p:nvPr/>
        </p:nvSpPr>
        <p:spPr>
          <a:xfrm>
            <a:off x="6695525" y="1785150"/>
            <a:ext cx="2462400" cy="2038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1500">
                <a:solidFill>
                  <a:schemeClr val="dk1"/>
                </a:solidFill>
              </a:rPr>
              <a:t>In this example, the GPT-4 tokenizer groups consecutive spaces into </a:t>
            </a:r>
            <a:r>
              <a:rPr lang="en" sz="1500" b="1">
                <a:solidFill>
                  <a:schemeClr val="dk1"/>
                </a:solidFill>
              </a:rPr>
              <a:t>fewer tokens</a:t>
            </a:r>
            <a:r>
              <a:rPr lang="en" sz="1500">
                <a:solidFill>
                  <a:schemeClr val="dk1"/>
                </a:solidFill>
              </a:rPr>
              <a:t> than GPT-2’s, allowing </a:t>
            </a:r>
            <a:r>
              <a:rPr lang="en" sz="1500" b="1">
                <a:solidFill>
                  <a:schemeClr val="dk1"/>
                </a:solidFill>
              </a:rPr>
              <a:t>more code to fit within the same token budget</a:t>
            </a:r>
            <a:r>
              <a:rPr lang="en" sz="1500">
                <a:solidFill>
                  <a:schemeClr val="dk1"/>
                </a:solidFill>
              </a:rPr>
              <a:t>.</a:t>
            </a:r>
            <a:endParaRPr sz="1500">
              <a:solidFill>
                <a:schemeClr val="dk1"/>
              </a:solidFill>
            </a:endParaRPr>
          </a:p>
        </p:txBody>
      </p:sp>
      <p:sp>
        <p:nvSpPr>
          <p:cNvPr id="151" name="Google Shape;151;p23"/>
          <p:cNvSpPr txBox="1"/>
          <p:nvPr/>
        </p:nvSpPr>
        <p:spPr>
          <a:xfrm>
            <a:off x="1377437" y="2206320"/>
            <a:ext cx="4551000" cy="25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rgbClr val="FF0000"/>
                </a:solidFill>
              </a:rPr>
              <a:t>Each space is encoded separately, resulting in longer token sequences</a:t>
            </a:r>
            <a:endParaRPr sz="1000" b="1" dirty="0">
              <a:solidFill>
                <a:srgbClr val="FF0000"/>
              </a:solidFill>
            </a:endParaRPr>
          </a:p>
        </p:txBody>
      </p:sp>
      <p:sp>
        <p:nvSpPr>
          <p:cNvPr id="152" name="Google Shape;152;p23"/>
          <p:cNvSpPr/>
          <p:nvPr/>
        </p:nvSpPr>
        <p:spPr>
          <a:xfrm rot="-5400000">
            <a:off x="3658735" y="3886129"/>
            <a:ext cx="77400" cy="255900"/>
          </a:xfrm>
          <a:prstGeom prst="leftBrace">
            <a:avLst>
              <a:gd name="adj1" fmla="val 50000"/>
              <a:gd name="adj2" fmla="val 50000"/>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 name="Google Shape;153;p23"/>
          <p:cNvSpPr txBox="1"/>
          <p:nvPr/>
        </p:nvSpPr>
        <p:spPr>
          <a:xfrm>
            <a:off x="1793159" y="4013087"/>
            <a:ext cx="4470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0000"/>
                </a:solidFill>
              </a:rPr>
              <a:t>Several spaces are merged together and treated as a single token.</a:t>
            </a:r>
            <a:endParaRPr sz="1000" b="1">
              <a:solidFill>
                <a:srgbClr val="FF0000"/>
              </a:solidFill>
            </a:endParaRPr>
          </a:p>
        </p:txBody>
      </p:sp>
      <p:sp>
        <p:nvSpPr>
          <p:cNvPr id="154" name="Google Shape;15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pic>
        <p:nvPicPr>
          <p:cNvPr id="5" name="Picture 4">
            <a:extLst>
              <a:ext uri="{FF2B5EF4-FFF2-40B4-BE49-F238E27FC236}">
                <a16:creationId xmlns:a16="http://schemas.microsoft.com/office/drawing/2014/main" id="{2FC9871A-C5D8-1FC3-4C95-8AB16689CAC1}"/>
              </a:ext>
            </a:extLst>
          </p:cNvPr>
          <p:cNvPicPr>
            <a:picLocks noChangeAspect="1"/>
          </p:cNvPicPr>
          <p:nvPr/>
        </p:nvPicPr>
        <p:blipFill>
          <a:blip r:embed="rId4"/>
          <a:stretch>
            <a:fillRect/>
          </a:stretch>
        </p:blipFill>
        <p:spPr>
          <a:xfrm>
            <a:off x="195953" y="892849"/>
            <a:ext cx="6553998" cy="1275763"/>
          </a:xfrm>
          <a:prstGeom prst="rect">
            <a:avLst/>
          </a:prstGeom>
        </p:spPr>
      </p:pic>
      <p:sp>
        <p:nvSpPr>
          <p:cNvPr id="150" name="Google Shape;150;p23"/>
          <p:cNvSpPr/>
          <p:nvPr/>
        </p:nvSpPr>
        <p:spPr>
          <a:xfrm rot="-5400000">
            <a:off x="3658735" y="2078370"/>
            <a:ext cx="77400" cy="255900"/>
          </a:xfrm>
          <a:prstGeom prst="leftBrace">
            <a:avLst>
              <a:gd name="adj1" fmla="val 50000"/>
              <a:gd name="adj2" fmla="val 50000"/>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0000"/>
              </a:solidFill>
              <a:highlight>
                <a:srgbClr val="FF00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p:nvPr/>
        </p:nvSpPr>
        <p:spPr>
          <a:xfrm>
            <a:off x="3874250" y="0"/>
            <a:ext cx="2112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UTF-8 Encoding</a:t>
            </a:r>
            <a:endParaRPr sz="1800" b="1">
              <a:solidFill>
                <a:schemeClr val="dk1"/>
              </a:solidFill>
            </a:endParaRPr>
          </a:p>
        </p:txBody>
      </p:sp>
      <p:pic>
        <p:nvPicPr>
          <p:cNvPr id="160" name="Google Shape;160;p24"/>
          <p:cNvPicPr preferRelativeResize="0"/>
          <p:nvPr/>
        </p:nvPicPr>
        <p:blipFill>
          <a:blip r:embed="rId3">
            <a:alphaModFix/>
          </a:blip>
          <a:stretch>
            <a:fillRect/>
          </a:stretch>
        </p:blipFill>
        <p:spPr>
          <a:xfrm>
            <a:off x="1126538" y="833850"/>
            <a:ext cx="7009376" cy="2236875"/>
          </a:xfrm>
          <a:prstGeom prst="rect">
            <a:avLst/>
          </a:prstGeom>
          <a:noFill/>
          <a:ln>
            <a:noFill/>
          </a:ln>
        </p:spPr>
      </p:pic>
      <p:sp>
        <p:nvSpPr>
          <p:cNvPr id="161" name="Google Shape;161;p24"/>
          <p:cNvSpPr txBox="1"/>
          <p:nvPr/>
        </p:nvSpPr>
        <p:spPr>
          <a:xfrm>
            <a:off x="3131250" y="3070725"/>
            <a:ext cx="3186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 </a:t>
            </a:r>
            <a:r>
              <a:rPr lang="en" u="sng">
                <a:solidFill>
                  <a:schemeClr val="hlink"/>
                </a:solidFill>
                <a:hlinkClick r:id="rId4"/>
              </a:rPr>
              <a:t>https://en.wikipedia.org/wiki/UTF-8</a:t>
            </a:r>
            <a:r>
              <a:rPr lang="en"/>
              <a:t> ] </a:t>
            </a:r>
            <a:endParaRPr/>
          </a:p>
        </p:txBody>
      </p:sp>
      <p:sp>
        <p:nvSpPr>
          <p:cNvPr id="162" name="Google Shape;162;p24"/>
          <p:cNvSpPr txBox="1"/>
          <p:nvPr/>
        </p:nvSpPr>
        <p:spPr>
          <a:xfrm>
            <a:off x="1030075" y="3432075"/>
            <a:ext cx="7591500" cy="114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chemeClr val="dk1"/>
                </a:solidFill>
              </a:rPr>
              <a:t>There are other encoding schemes like </a:t>
            </a:r>
            <a:r>
              <a:rPr lang="en" b="1">
                <a:solidFill>
                  <a:schemeClr val="dk1"/>
                </a:solidFill>
              </a:rPr>
              <a:t>UTF-16</a:t>
            </a:r>
            <a:r>
              <a:rPr lang="en">
                <a:solidFill>
                  <a:schemeClr val="dk1"/>
                </a:solidFill>
              </a:rPr>
              <a:t> and </a:t>
            </a:r>
            <a:r>
              <a:rPr lang="en" b="1">
                <a:solidFill>
                  <a:schemeClr val="dk1"/>
                </a:solidFill>
              </a:rPr>
              <a:t>UTF-32</a:t>
            </a:r>
            <a:r>
              <a:rPr lang="en">
                <a:solidFill>
                  <a:schemeClr val="dk1"/>
                </a:solidFill>
              </a:rPr>
              <a:t>. UTF-32, for example, is </a:t>
            </a:r>
            <a:r>
              <a:rPr lang="en" b="1">
                <a:solidFill>
                  <a:schemeClr val="dk1"/>
                </a:solidFill>
              </a:rPr>
              <a:t>fixed length</a:t>
            </a:r>
            <a:r>
              <a:rPr lang="en">
                <a:solidFill>
                  <a:schemeClr val="dk1"/>
                </a:solidFill>
              </a:rPr>
              <a:t>, whereas </a:t>
            </a:r>
            <a:r>
              <a:rPr lang="en" b="1">
                <a:solidFill>
                  <a:schemeClr val="dk1"/>
                </a:solidFill>
              </a:rPr>
              <a:t>UTF-8</a:t>
            </a:r>
            <a:r>
              <a:rPr lang="en">
                <a:solidFill>
                  <a:schemeClr val="dk1"/>
                </a:solidFill>
              </a:rPr>
              <a:t> is </a:t>
            </a:r>
            <a:r>
              <a:rPr lang="en" b="1">
                <a:solidFill>
                  <a:schemeClr val="dk1"/>
                </a:solidFill>
              </a:rPr>
              <a:t>variable-length</a:t>
            </a:r>
            <a:r>
              <a:rPr lang="en">
                <a:solidFill>
                  <a:schemeClr val="dk1"/>
                </a:solidFill>
              </a:rPr>
              <a:t>, which can result in shorter byte sequences. One of the major advantages of UTF-8 is that it is backwards compatible with </a:t>
            </a:r>
            <a:r>
              <a:rPr lang="en" b="1">
                <a:solidFill>
                  <a:schemeClr val="dk1"/>
                </a:solidFill>
              </a:rPr>
              <a:t>ASCII</a:t>
            </a:r>
            <a:r>
              <a:rPr lang="en">
                <a:solidFill>
                  <a:schemeClr val="dk1"/>
                </a:solidFill>
              </a:rPr>
              <a:t>, which is a much simpler encoding of text.</a:t>
            </a:r>
            <a:endParaRPr/>
          </a:p>
        </p:txBody>
      </p:sp>
      <p:sp>
        <p:nvSpPr>
          <p:cNvPr id="163" name="Google Shape;163;p24"/>
          <p:cNvSpPr txBox="1"/>
          <p:nvPr/>
        </p:nvSpPr>
        <p:spPr>
          <a:xfrm>
            <a:off x="1037956" y="4575675"/>
            <a:ext cx="6306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rPr>
              <a:t>Check also → </a:t>
            </a:r>
            <a:r>
              <a:rPr lang="en" u="sng">
                <a:solidFill>
                  <a:schemeClr val="hlink"/>
                </a:solidFill>
                <a:hlinkClick r:id="rId5"/>
              </a:rPr>
              <a:t>https://www.reedbeta.com/blog/programmers-intro-to-unicode/</a:t>
            </a:r>
            <a:endParaRPr>
              <a:solidFill>
                <a:schemeClr val="dk1"/>
              </a:solidFill>
            </a:endParaRPr>
          </a:p>
        </p:txBody>
      </p:sp>
      <p:sp>
        <p:nvSpPr>
          <p:cNvPr id="164" name="Google Shape;16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p:nvPr/>
        </p:nvSpPr>
        <p:spPr>
          <a:xfrm>
            <a:off x="2258120" y="0"/>
            <a:ext cx="4629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Not All Byte Sequences Are Valid UTF-8 </a:t>
            </a:r>
            <a:endParaRPr sz="1800" b="1">
              <a:solidFill>
                <a:schemeClr val="dk1"/>
              </a:solidFill>
            </a:endParaRPr>
          </a:p>
        </p:txBody>
      </p:sp>
      <p:sp>
        <p:nvSpPr>
          <p:cNvPr id="170" name="Google Shape;170;p25"/>
          <p:cNvSpPr txBox="1"/>
          <p:nvPr/>
        </p:nvSpPr>
        <p:spPr>
          <a:xfrm>
            <a:off x="330775" y="767525"/>
            <a:ext cx="8813100" cy="199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dirty="0">
                <a:solidFill>
                  <a:srgbClr val="FF0000"/>
                </a:solidFill>
              </a:rPr>
              <a:t>Example:</a:t>
            </a:r>
            <a:endParaRPr sz="1300" dirty="0">
              <a:solidFill>
                <a:schemeClr val="dk1"/>
              </a:solidFill>
            </a:endParaRPr>
          </a:p>
          <a:p>
            <a:pPr marL="0" marR="0" lvl="0" indent="0" algn="l" rtl="0">
              <a:lnSpc>
                <a:spcPct val="115000"/>
              </a:lnSpc>
              <a:spcBef>
                <a:spcPts val="1200"/>
              </a:spcBef>
              <a:spcAft>
                <a:spcPts val="0"/>
              </a:spcAft>
              <a:buNone/>
            </a:pPr>
            <a:r>
              <a:rPr lang="en" sz="1300" dirty="0">
                <a:solidFill>
                  <a:schemeClr val="dk1"/>
                </a:solidFill>
              </a:rPr>
              <a:t>The character é (U+00E9) is encoded as two bytes: 11000011 10101001 → decimal values 195, 169</a:t>
            </a:r>
            <a:endParaRPr sz="1300" dirty="0">
              <a:solidFill>
                <a:schemeClr val="dk1"/>
              </a:solidFill>
            </a:endParaRPr>
          </a:p>
          <a:p>
            <a:pPr marL="457200" marR="0" lvl="0" indent="-311150" algn="l" rtl="0">
              <a:lnSpc>
                <a:spcPct val="115000"/>
              </a:lnSpc>
              <a:spcBef>
                <a:spcPts val="1200"/>
              </a:spcBef>
              <a:spcAft>
                <a:spcPts val="0"/>
              </a:spcAft>
              <a:buClr>
                <a:schemeClr val="dk1"/>
              </a:buClr>
              <a:buSzPts val="1300"/>
              <a:buChar char="➢"/>
            </a:pPr>
            <a:r>
              <a:rPr lang="en" sz="1300" dirty="0">
                <a:solidFill>
                  <a:schemeClr val="dk1"/>
                </a:solidFill>
              </a:rPr>
              <a:t>110 indicates the </a:t>
            </a:r>
            <a:r>
              <a:rPr lang="en" sz="1300" b="1" dirty="0">
                <a:solidFill>
                  <a:schemeClr val="dk1"/>
                </a:solidFill>
              </a:rPr>
              <a:t>start </a:t>
            </a:r>
            <a:r>
              <a:rPr lang="en" sz="1300" dirty="0">
                <a:solidFill>
                  <a:schemeClr val="dk1"/>
                </a:solidFill>
              </a:rPr>
              <a:t>of a two-byte sequence.</a:t>
            </a:r>
            <a:endParaRPr sz="1300" dirty="0">
              <a:solidFill>
                <a:schemeClr val="dk1"/>
              </a:solidFill>
            </a:endParaRPr>
          </a:p>
          <a:p>
            <a:pPr marL="457200" marR="0" lvl="0" indent="-311150" algn="l" rtl="0">
              <a:lnSpc>
                <a:spcPct val="115000"/>
              </a:lnSpc>
              <a:spcBef>
                <a:spcPts val="0"/>
              </a:spcBef>
              <a:spcAft>
                <a:spcPts val="0"/>
              </a:spcAft>
              <a:buClr>
                <a:schemeClr val="dk1"/>
              </a:buClr>
              <a:buSzPts val="1300"/>
              <a:buChar char="➢"/>
            </a:pPr>
            <a:r>
              <a:rPr lang="en" sz="1300">
                <a:solidFill>
                  <a:schemeClr val="dk1"/>
                </a:solidFill>
              </a:rPr>
              <a:t>10 identifies the </a:t>
            </a:r>
            <a:r>
              <a:rPr lang="en" sz="1300" b="1">
                <a:solidFill>
                  <a:schemeClr val="dk1"/>
                </a:solidFill>
              </a:rPr>
              <a:t>continuation </a:t>
            </a:r>
            <a:r>
              <a:rPr lang="en" sz="1300">
                <a:solidFill>
                  <a:schemeClr val="dk1"/>
                </a:solidFill>
              </a:rPr>
              <a:t>byte.</a:t>
            </a:r>
            <a:endParaRPr sz="1300">
              <a:solidFill>
                <a:schemeClr val="dk1"/>
              </a:solidFill>
            </a:endParaRPr>
          </a:p>
          <a:p>
            <a:pPr marL="0" marR="0" lvl="0" indent="0" algn="l" rtl="0">
              <a:lnSpc>
                <a:spcPct val="115000"/>
              </a:lnSpc>
              <a:spcBef>
                <a:spcPts val="1200"/>
              </a:spcBef>
              <a:spcAft>
                <a:spcPts val="1200"/>
              </a:spcAft>
              <a:buNone/>
            </a:pPr>
            <a:r>
              <a:rPr lang="en" sz="1300" dirty="0">
                <a:solidFill>
                  <a:schemeClr val="dk1"/>
                </a:solidFill>
              </a:rPr>
              <a:t>By contrast, the byte 128 (10000000 in binary) cannot be decoded on its own: its 10 prefix marks it as a </a:t>
            </a:r>
            <a:r>
              <a:rPr lang="en" sz="1300" b="1" dirty="0">
                <a:solidFill>
                  <a:schemeClr val="dk1"/>
                </a:solidFill>
              </a:rPr>
              <a:t>continuation </a:t>
            </a:r>
            <a:r>
              <a:rPr lang="en" sz="1300" dirty="0">
                <a:solidFill>
                  <a:schemeClr val="dk1"/>
                </a:solidFill>
              </a:rPr>
              <a:t>byte, so a preceding </a:t>
            </a:r>
            <a:r>
              <a:rPr lang="en" sz="1300" b="1" dirty="0">
                <a:solidFill>
                  <a:schemeClr val="dk1"/>
                </a:solidFill>
              </a:rPr>
              <a:t>start </a:t>
            </a:r>
            <a:r>
              <a:rPr lang="en" sz="1300" dirty="0">
                <a:solidFill>
                  <a:schemeClr val="dk1"/>
                </a:solidFill>
              </a:rPr>
              <a:t>byte is required. </a:t>
            </a:r>
            <a:endParaRPr sz="1300" b="1" i="1" dirty="0">
              <a:solidFill>
                <a:srgbClr val="FF0000"/>
              </a:solidFill>
            </a:endParaRPr>
          </a:p>
        </p:txBody>
      </p:sp>
      <p:sp>
        <p:nvSpPr>
          <p:cNvPr id="171" name="Google Shape;171;p25"/>
          <p:cNvSpPr txBox="1"/>
          <p:nvPr/>
        </p:nvSpPr>
        <p:spPr>
          <a:xfrm>
            <a:off x="813025" y="3586121"/>
            <a:ext cx="76593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dirty="0">
                <a:solidFill>
                  <a:schemeClr val="dk1"/>
                </a:solidFill>
              </a:rPr>
              <a:t>def</a:t>
            </a:r>
            <a:r>
              <a:rPr lang="en" sz="1100" dirty="0">
                <a:solidFill>
                  <a:schemeClr val="dk1"/>
                </a:solidFill>
              </a:rPr>
              <a:t> decode(token_ids):</a:t>
            </a:r>
            <a:endParaRPr sz="1100" dirty="0">
              <a:solidFill>
                <a:schemeClr val="dk1"/>
              </a:solidFill>
            </a:endParaRPr>
          </a:p>
          <a:p>
            <a:pPr marL="0" lvl="0" indent="0" algn="l" rtl="0">
              <a:spcBef>
                <a:spcPts val="0"/>
              </a:spcBef>
              <a:spcAft>
                <a:spcPts val="0"/>
              </a:spcAft>
              <a:buNone/>
            </a:pPr>
            <a:r>
              <a:rPr lang="en" sz="1100" dirty="0">
                <a:solidFill>
                  <a:schemeClr val="dk1"/>
                </a:solidFill>
              </a:rPr>
              <a:t>    </a:t>
            </a:r>
            <a:r>
              <a:rPr lang="en" sz="1100" i="1" dirty="0">
                <a:solidFill>
                  <a:schemeClr val="dk1"/>
                </a:solidFill>
              </a:rPr>
              <a:t># Join the bytes first: a UTF-8 character may span several tokens.</a:t>
            </a:r>
            <a:endParaRPr sz="1100" dirty="0">
              <a:solidFill>
                <a:schemeClr val="dk1"/>
              </a:solidFill>
            </a:endParaRPr>
          </a:p>
          <a:p>
            <a:pPr marL="0" lvl="0" indent="0" algn="l" rtl="0">
              <a:spcBef>
                <a:spcPts val="0"/>
              </a:spcBef>
              <a:spcAft>
                <a:spcPts val="0"/>
              </a:spcAft>
              <a:buNone/>
            </a:pPr>
            <a:r>
              <a:rPr lang="en" sz="1100" dirty="0">
                <a:solidFill>
                  <a:schemeClr val="dk1"/>
                </a:solidFill>
              </a:rPr>
              <a:t>    tokens </a:t>
            </a:r>
            <a:r>
              <a:rPr lang="en" sz="1100" b="1" dirty="0">
                <a:solidFill>
                  <a:schemeClr val="dk1"/>
                </a:solidFill>
              </a:rPr>
              <a:t>=</a:t>
            </a:r>
            <a:r>
              <a:rPr lang="en" sz="1100" dirty="0">
                <a:solidFill>
                  <a:schemeClr val="dk1"/>
                </a:solidFill>
              </a:rPr>
              <a:t> b""</a:t>
            </a:r>
            <a:r>
              <a:rPr lang="en" sz="1100" b="1" dirty="0">
                <a:solidFill>
                  <a:schemeClr val="dk1"/>
                </a:solidFill>
              </a:rPr>
              <a:t>.</a:t>
            </a:r>
            <a:r>
              <a:rPr lang="en" sz="1100" dirty="0">
                <a:solidFill>
                  <a:schemeClr val="dk1"/>
                </a:solidFill>
              </a:rPr>
              <a:t>join(vocab[token_id] </a:t>
            </a:r>
            <a:r>
              <a:rPr lang="en" sz="1100" b="1" dirty="0">
                <a:solidFill>
                  <a:schemeClr val="dk1"/>
                </a:solidFill>
              </a:rPr>
              <a:t>for</a:t>
            </a:r>
            <a:r>
              <a:rPr lang="en" sz="1100" dirty="0">
                <a:solidFill>
                  <a:schemeClr val="dk1"/>
                </a:solidFill>
              </a:rPr>
              <a:t> token_id </a:t>
            </a:r>
            <a:r>
              <a:rPr lang="en" sz="1100" b="1" dirty="0">
                <a:solidFill>
                  <a:schemeClr val="dk1"/>
                </a:solidFill>
              </a:rPr>
              <a:t>in</a:t>
            </a:r>
            <a:r>
              <a:rPr lang="en" sz="1100" dirty="0">
                <a:solidFill>
                  <a:schemeClr val="dk1"/>
                </a:solidFill>
              </a:rPr>
              <a:t> token_ids)</a:t>
            </a:r>
            <a:endParaRPr sz="1100" dirty="0">
              <a:solidFill>
                <a:schemeClr val="dk1"/>
              </a:solidFill>
            </a:endParaRPr>
          </a:p>
          <a:p>
            <a:pPr marL="0" lvl="0" indent="0" algn="l" rtl="0">
              <a:spcBef>
                <a:spcPts val="0"/>
              </a:spcBef>
              <a:spcAft>
                <a:spcPts val="0"/>
              </a:spcAft>
              <a:buNone/>
            </a:pPr>
            <a:r>
              <a:rPr lang="en" sz="1100" dirty="0">
                <a:solidFill>
                  <a:schemeClr val="dk1"/>
                </a:solidFill>
              </a:rPr>
              <a:t>    text </a:t>
            </a:r>
            <a:r>
              <a:rPr lang="en" sz="1100" b="1" dirty="0">
                <a:solidFill>
                  <a:schemeClr val="dk1"/>
                </a:solidFill>
              </a:rPr>
              <a:t>=</a:t>
            </a:r>
            <a:r>
              <a:rPr lang="en" sz="1100" dirty="0">
                <a:solidFill>
                  <a:schemeClr val="dk1"/>
                </a:solidFill>
              </a:rPr>
              <a:t> tokens</a:t>
            </a:r>
            <a:r>
              <a:rPr lang="en" sz="1100" b="1" dirty="0">
                <a:solidFill>
                  <a:schemeClr val="dk1"/>
                </a:solidFill>
              </a:rPr>
              <a:t>.</a:t>
            </a:r>
            <a:r>
              <a:rPr lang="en" sz="1100" dirty="0">
                <a:solidFill>
                  <a:schemeClr val="dk1"/>
                </a:solidFill>
              </a:rPr>
              <a:t>decode("utf-8", </a:t>
            </a:r>
            <a:r>
              <a:rPr lang="en" sz="1100" b="1" dirty="0">
                <a:solidFill>
                  <a:srgbClr val="FF0000"/>
                </a:solidFill>
              </a:rPr>
              <a:t>errors="replace"</a:t>
            </a:r>
            <a:r>
              <a:rPr lang="en" sz="1100" dirty="0">
                <a:solidFill>
                  <a:schemeClr val="dk1"/>
                </a:solidFill>
              </a:rPr>
              <a:t>)</a:t>
            </a:r>
            <a:r>
              <a:rPr lang="en" sz="1100" dirty="0">
                <a:solidFill>
                  <a:schemeClr val="accent1"/>
                </a:solidFill>
              </a:rPr>
              <a:t> # In case of decoding issues use</a:t>
            </a:r>
            <a:r>
              <a:rPr lang="en" sz="1100" b="1" dirty="0">
                <a:solidFill>
                  <a:schemeClr val="accent1"/>
                </a:solidFill>
              </a:rPr>
              <a:t> Unicode Replacement Characters</a:t>
            </a:r>
            <a:endParaRPr sz="1100" b="1" dirty="0">
              <a:solidFill>
                <a:schemeClr val="accent1"/>
              </a:solidFill>
            </a:endParaRPr>
          </a:p>
          <a:p>
            <a:pPr marL="0" lvl="0" indent="0" algn="l" rtl="0">
              <a:spcBef>
                <a:spcPts val="0"/>
              </a:spcBef>
              <a:spcAft>
                <a:spcPts val="0"/>
              </a:spcAft>
              <a:buNone/>
            </a:pPr>
            <a:r>
              <a:rPr lang="en" sz="1100" b="1" dirty="0">
                <a:solidFill>
                  <a:schemeClr val="accent1"/>
                </a:solidFill>
              </a:rPr>
              <a:t>    </a:t>
            </a:r>
            <a:r>
              <a:rPr lang="en" sz="1100" dirty="0">
                <a:solidFill>
                  <a:schemeClr val="dk1"/>
                </a:solidFill>
              </a:rPr>
              <a:t>return text</a:t>
            </a:r>
            <a:endParaRPr sz="1100" dirty="0">
              <a:solidFill>
                <a:schemeClr val="dk1"/>
              </a:solidFill>
            </a:endParaRPr>
          </a:p>
        </p:txBody>
      </p:sp>
      <p:sp>
        <p:nvSpPr>
          <p:cNvPr id="172" name="Google Shape;172;p25"/>
          <p:cNvSpPr txBox="1"/>
          <p:nvPr/>
        </p:nvSpPr>
        <p:spPr>
          <a:xfrm>
            <a:off x="592587" y="4745893"/>
            <a:ext cx="7463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hlinkClick r:id="rId3"/>
              </a:rPr>
              <a:t>https://github.com/ducspe/UnderstandingTokenization/blob/main/BPE_Tokenizer_Notebook.ipynb</a:t>
            </a:r>
            <a:endParaRPr sz="1300"/>
          </a:p>
        </p:txBody>
      </p:sp>
      <p:sp>
        <p:nvSpPr>
          <p:cNvPr id="173" name="Google Shape;173;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
        <p:nvSpPr>
          <p:cNvPr id="174" name="Google Shape;174;p25"/>
          <p:cNvSpPr txBox="1"/>
          <p:nvPr/>
        </p:nvSpPr>
        <p:spPr>
          <a:xfrm>
            <a:off x="330775" y="2764625"/>
            <a:ext cx="8813100" cy="821496"/>
          </a:xfrm>
          <a:prstGeom prst="rect">
            <a:avLst/>
          </a:prstGeom>
          <a:noFill/>
          <a:ln>
            <a:noFill/>
          </a:ln>
        </p:spPr>
        <p:txBody>
          <a:bodyPr spcFirstLastPara="1" wrap="square" lIns="91425" tIns="91425" rIns="91425" bIns="91425" anchor="t" anchorCtr="0">
            <a:noAutofit/>
          </a:bodyPr>
          <a:lstStyle/>
          <a:p>
            <a:pPr lvl="0">
              <a:spcBef>
                <a:spcPts val="1200"/>
              </a:spcBef>
              <a:spcAft>
                <a:spcPts val="1200"/>
              </a:spcAft>
              <a:buClr>
                <a:schemeClr val="dk1"/>
              </a:buClr>
              <a:buSzPts val="1100"/>
            </a:pPr>
            <a:r>
              <a:rPr lang="en" sz="1200" b="1" dirty="0">
                <a:solidFill>
                  <a:srgbClr val="FF0000"/>
                </a:solidFill>
              </a:rPr>
              <a:t>Hence, when you see lots of Unicode Replacement Characters like    , the LLM post-processing pipeline cannot decode the bytes correctly for the browser to render. We join the bytes before decoding. If invalid byte sequences remain, errors="replace" displays     in their place: </a:t>
            </a:r>
            <a:endParaRPr sz="1200" b="1" dirty="0">
              <a:solidFill>
                <a:srgbClr val="FF0000"/>
              </a:solidFill>
            </a:endParaRPr>
          </a:p>
        </p:txBody>
      </p:sp>
      <p:sp>
        <p:nvSpPr>
          <p:cNvPr id="175" name="Google Shape;175;p25"/>
          <p:cNvSpPr/>
          <p:nvPr/>
        </p:nvSpPr>
        <p:spPr>
          <a:xfrm>
            <a:off x="4116002" y="4459566"/>
            <a:ext cx="281100" cy="2640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 name="Picture 2">
            <a:extLst>
              <a:ext uri="{FF2B5EF4-FFF2-40B4-BE49-F238E27FC236}">
                <a16:creationId xmlns:a16="http://schemas.microsoft.com/office/drawing/2014/main" id="{810A5831-C36B-19E6-4216-50446040B3A4}"/>
              </a:ext>
            </a:extLst>
          </p:cNvPr>
          <p:cNvPicPr>
            <a:picLocks noChangeAspect="1"/>
          </p:cNvPicPr>
          <p:nvPr/>
        </p:nvPicPr>
        <p:blipFill>
          <a:blip r:embed="rId4"/>
          <a:stretch>
            <a:fillRect/>
          </a:stretch>
        </p:blipFill>
        <p:spPr>
          <a:xfrm>
            <a:off x="5261390" y="3000615"/>
            <a:ext cx="147658" cy="166711"/>
          </a:xfrm>
          <a:prstGeom prst="rect">
            <a:avLst/>
          </a:prstGeom>
        </p:spPr>
      </p:pic>
      <p:pic>
        <p:nvPicPr>
          <p:cNvPr id="4" name="Picture 3">
            <a:extLst>
              <a:ext uri="{FF2B5EF4-FFF2-40B4-BE49-F238E27FC236}">
                <a16:creationId xmlns:a16="http://schemas.microsoft.com/office/drawing/2014/main" id="{ADF5FD92-99C8-F9FA-FA32-28AB01958C3A}"/>
              </a:ext>
            </a:extLst>
          </p:cNvPr>
          <p:cNvPicPr>
            <a:picLocks noChangeAspect="1"/>
          </p:cNvPicPr>
          <p:nvPr/>
        </p:nvPicPr>
        <p:blipFill>
          <a:blip r:embed="rId4"/>
          <a:stretch>
            <a:fillRect/>
          </a:stretch>
        </p:blipFill>
        <p:spPr>
          <a:xfrm>
            <a:off x="2311532" y="3374393"/>
            <a:ext cx="147658" cy="1667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p:nvPr/>
        </p:nvSpPr>
        <p:spPr>
          <a:xfrm>
            <a:off x="2116923" y="0"/>
            <a:ext cx="54081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Preventing Merges with Regex Pre-tokenization </a:t>
            </a:r>
            <a:endParaRPr sz="1800" b="1">
              <a:solidFill>
                <a:schemeClr val="dk1"/>
              </a:solidFill>
            </a:endParaRPr>
          </a:p>
        </p:txBody>
      </p:sp>
      <p:sp>
        <p:nvSpPr>
          <p:cNvPr id="181" name="Google Shape;181;p26"/>
          <p:cNvSpPr txBox="1"/>
          <p:nvPr/>
        </p:nvSpPr>
        <p:spPr>
          <a:xfrm>
            <a:off x="604075" y="709462"/>
            <a:ext cx="7974300" cy="52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Some merges should never take place. This can be enforced via regular expressions.</a:t>
            </a:r>
            <a:endParaRPr sz="1600">
              <a:solidFill>
                <a:schemeClr val="dk1"/>
              </a:solidFill>
            </a:endParaRPr>
          </a:p>
        </p:txBody>
      </p:sp>
      <p:pic>
        <p:nvPicPr>
          <p:cNvPr id="182" name="Google Shape;182;p26"/>
          <p:cNvPicPr preferRelativeResize="0"/>
          <p:nvPr/>
        </p:nvPicPr>
        <p:blipFill>
          <a:blip r:embed="rId3">
            <a:alphaModFix/>
          </a:blip>
          <a:stretch>
            <a:fillRect/>
          </a:stretch>
        </p:blipFill>
        <p:spPr>
          <a:xfrm>
            <a:off x="429290" y="1214029"/>
            <a:ext cx="8323875" cy="3530750"/>
          </a:xfrm>
          <a:prstGeom prst="rect">
            <a:avLst/>
          </a:prstGeom>
          <a:noFill/>
          <a:ln>
            <a:noFill/>
          </a:ln>
        </p:spPr>
      </p:pic>
      <p:sp>
        <p:nvSpPr>
          <p:cNvPr id="183" name="Google Shape;183;p26"/>
          <p:cNvSpPr txBox="1"/>
          <p:nvPr/>
        </p:nvSpPr>
        <p:spPr>
          <a:xfrm>
            <a:off x="3661901" y="2741117"/>
            <a:ext cx="5316300" cy="1922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dirty="0">
                <a:solidFill>
                  <a:srgbClr val="FF0000"/>
                </a:solidFill>
              </a:rPr>
              <a:t>The regex </a:t>
            </a:r>
            <a:r>
              <a:rPr lang="en" sz="900" b="1" dirty="0">
                <a:solidFill>
                  <a:srgbClr val="FF0000"/>
                </a:solidFill>
              </a:rPr>
              <a:t>splits text into smaller chunks before BPE is applied</a:t>
            </a:r>
            <a:r>
              <a:rPr lang="en" sz="900" dirty="0">
                <a:solidFill>
                  <a:srgbClr val="FF0000"/>
                </a:solidFill>
              </a:rPr>
              <a:t>. It recognizes:</a:t>
            </a:r>
            <a:endParaRPr sz="900" dirty="0">
              <a:solidFill>
                <a:srgbClr val="FF0000"/>
              </a:solidFill>
            </a:endParaRPr>
          </a:p>
          <a:p>
            <a:pPr marL="457200" lvl="0" indent="-285750" algn="l" rtl="0">
              <a:lnSpc>
                <a:spcPct val="115000"/>
              </a:lnSpc>
              <a:spcBef>
                <a:spcPts val="1200"/>
              </a:spcBef>
              <a:spcAft>
                <a:spcPts val="0"/>
              </a:spcAft>
              <a:buClr>
                <a:srgbClr val="FF0000"/>
              </a:buClr>
              <a:buSzPts val="900"/>
              <a:buChar char="●"/>
            </a:pPr>
            <a:r>
              <a:rPr lang="en" sz="900" b="1" dirty="0">
                <a:solidFill>
                  <a:srgbClr val="FF0000"/>
                </a:solidFill>
              </a:rPr>
              <a:t>English contractions:</a:t>
            </a:r>
            <a:r>
              <a:rPr lang="en" sz="900" dirty="0">
                <a:solidFill>
                  <a:srgbClr val="FF0000"/>
                </a:solidFill>
              </a:rPr>
              <a:t> </a:t>
            </a:r>
            <a:r>
              <a:rPr lang="en" sz="900" dirty="0">
                <a:solidFill>
                  <a:srgbClr val="FF0000"/>
                </a:solidFill>
                <a:latin typeface="Roboto Mono"/>
                <a:ea typeface="Roboto Mono"/>
                <a:cs typeface="Roboto Mono"/>
                <a:sym typeface="Roboto Mono"/>
              </a:rPr>
              <a:t>'s</a:t>
            </a:r>
            <a:r>
              <a:rPr lang="en" sz="900" dirty="0">
                <a:solidFill>
                  <a:srgbClr val="FF0000"/>
                </a:solidFill>
              </a:rPr>
              <a:t>, </a:t>
            </a:r>
            <a:r>
              <a:rPr lang="en" sz="900" dirty="0">
                <a:solidFill>
                  <a:srgbClr val="FF0000"/>
                </a:solidFill>
                <a:latin typeface="Roboto Mono"/>
                <a:ea typeface="Roboto Mono"/>
                <a:cs typeface="Roboto Mono"/>
                <a:sym typeface="Roboto Mono"/>
              </a:rPr>
              <a:t>'t</a:t>
            </a:r>
            <a:r>
              <a:rPr lang="en" sz="900" dirty="0">
                <a:solidFill>
                  <a:srgbClr val="FF0000"/>
                </a:solidFill>
              </a:rPr>
              <a:t>, </a:t>
            </a:r>
            <a:r>
              <a:rPr lang="en" sz="900" dirty="0">
                <a:solidFill>
                  <a:srgbClr val="FF0000"/>
                </a:solidFill>
                <a:latin typeface="Roboto Mono"/>
                <a:ea typeface="Roboto Mono"/>
                <a:cs typeface="Roboto Mono"/>
                <a:sym typeface="Roboto Mono"/>
              </a:rPr>
              <a:t>'re</a:t>
            </a:r>
            <a:r>
              <a:rPr lang="en" sz="900" dirty="0">
                <a:solidFill>
                  <a:srgbClr val="FF0000"/>
                </a:solidFill>
              </a:rPr>
              <a:t>, </a:t>
            </a:r>
            <a:r>
              <a:rPr lang="en" sz="900" dirty="0">
                <a:solidFill>
                  <a:srgbClr val="FF0000"/>
                </a:solidFill>
                <a:latin typeface="Roboto Mono"/>
                <a:ea typeface="Roboto Mono"/>
                <a:cs typeface="Roboto Mono"/>
                <a:sym typeface="Roboto Mono"/>
              </a:rPr>
              <a:t>'ve</a:t>
            </a:r>
            <a:r>
              <a:rPr lang="en" sz="900" dirty="0">
                <a:solidFill>
                  <a:srgbClr val="FF0000"/>
                </a:solidFill>
              </a:rPr>
              <a:t>, </a:t>
            </a:r>
            <a:r>
              <a:rPr lang="en" sz="900" dirty="0">
                <a:solidFill>
                  <a:srgbClr val="FF0000"/>
                </a:solidFill>
                <a:latin typeface="Roboto Mono"/>
                <a:ea typeface="Roboto Mono"/>
                <a:cs typeface="Roboto Mono"/>
                <a:sym typeface="Roboto Mono"/>
              </a:rPr>
              <a:t>'m</a:t>
            </a:r>
            <a:r>
              <a:rPr lang="en" sz="900" dirty="0">
                <a:solidFill>
                  <a:srgbClr val="FF0000"/>
                </a:solidFill>
              </a:rPr>
              <a:t>, </a:t>
            </a:r>
            <a:r>
              <a:rPr lang="en" sz="900" dirty="0">
                <a:solidFill>
                  <a:srgbClr val="FF0000"/>
                </a:solidFill>
                <a:latin typeface="Roboto Mono"/>
                <a:ea typeface="Roboto Mono"/>
                <a:cs typeface="Roboto Mono"/>
                <a:sym typeface="Roboto Mono"/>
              </a:rPr>
              <a:t>'ll</a:t>
            </a:r>
            <a:r>
              <a:rPr lang="en" sz="900" dirty="0">
                <a:solidFill>
                  <a:srgbClr val="FF0000"/>
                </a:solidFill>
              </a:rPr>
              <a:t>, </a:t>
            </a:r>
            <a:r>
              <a:rPr lang="en" sz="900" dirty="0">
                <a:solidFill>
                  <a:srgbClr val="FF0000"/>
                </a:solidFill>
                <a:latin typeface="Roboto Mono"/>
                <a:ea typeface="Roboto Mono"/>
                <a:cs typeface="Roboto Mono"/>
                <a:sym typeface="Roboto Mono"/>
              </a:rPr>
              <a:t>'d</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Groups of letters:</a:t>
            </a:r>
            <a:r>
              <a:rPr lang="en" sz="900" dirty="0">
                <a:solidFill>
                  <a:srgbClr val="FF0000"/>
                </a:solidFill>
              </a:rPr>
              <a:t> such as </a:t>
            </a:r>
            <a:r>
              <a:rPr lang="en" sz="900" dirty="0">
                <a:solidFill>
                  <a:srgbClr val="FF0000"/>
                </a:solidFill>
                <a:latin typeface="Roboto Mono"/>
                <a:ea typeface="Roboto Mono"/>
                <a:cs typeface="Roboto Mono"/>
                <a:sym typeface="Roboto Mono"/>
              </a:rPr>
              <a:t>hello</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Groups of numbers:</a:t>
            </a:r>
            <a:r>
              <a:rPr lang="en" sz="900" dirty="0">
                <a:solidFill>
                  <a:srgbClr val="FF0000"/>
                </a:solidFill>
              </a:rPr>
              <a:t> such as </a:t>
            </a:r>
            <a:r>
              <a:rPr lang="en" sz="900" dirty="0">
                <a:solidFill>
                  <a:srgbClr val="FF0000"/>
                </a:solidFill>
                <a:latin typeface="Roboto Mono"/>
                <a:ea typeface="Roboto Mono"/>
                <a:cs typeface="Roboto Mono"/>
                <a:sym typeface="Roboto Mono"/>
              </a:rPr>
              <a:t>123</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Punctuation and symbols:</a:t>
            </a:r>
            <a:r>
              <a:rPr lang="en" sz="900" dirty="0">
                <a:solidFill>
                  <a:srgbClr val="FF0000"/>
                </a:solidFill>
              </a:rPr>
              <a:t> such as </a:t>
            </a:r>
            <a:r>
              <a:rPr lang="en" sz="900" dirty="0">
                <a:solidFill>
                  <a:srgbClr val="FF0000"/>
                </a:solidFill>
                <a:latin typeface="Roboto Mono"/>
                <a:ea typeface="Roboto Mono"/>
                <a:cs typeface="Roboto Mono"/>
                <a:sym typeface="Roboto Mono"/>
              </a:rPr>
              <a:t>!!!</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Whitespace:</a:t>
            </a:r>
            <a:r>
              <a:rPr lang="en" sz="900" dirty="0">
                <a:solidFill>
                  <a:srgbClr val="FF0000"/>
                </a:solidFill>
              </a:rPr>
              <a:t> spaces, tabs and line breaks.</a:t>
            </a:r>
            <a:endParaRPr sz="900" dirty="0">
              <a:solidFill>
                <a:srgbClr val="FF0000"/>
              </a:solidFill>
            </a:endParaRPr>
          </a:p>
          <a:p>
            <a:pPr marL="0" lvl="0" indent="0" algn="l" rtl="0">
              <a:lnSpc>
                <a:spcPct val="115000"/>
              </a:lnSpc>
              <a:spcBef>
                <a:spcPts val="1200"/>
              </a:spcBef>
              <a:spcAft>
                <a:spcPts val="0"/>
              </a:spcAft>
              <a:buNone/>
            </a:pPr>
            <a:r>
              <a:rPr lang="en" sz="900" dirty="0">
                <a:solidFill>
                  <a:srgbClr val="FF0000"/>
                </a:solidFill>
              </a:rPr>
              <a:t>For example, </a:t>
            </a:r>
            <a:r>
              <a:rPr lang="en" sz="900" b="1" dirty="0">
                <a:solidFill>
                  <a:srgbClr val="FF0000"/>
                </a:solidFill>
              </a:rPr>
              <a:t>“I'm buying 12 apples!”</a:t>
            </a:r>
            <a:r>
              <a:rPr lang="en" sz="900" dirty="0">
                <a:solidFill>
                  <a:srgbClr val="FF0000"/>
                </a:solidFill>
              </a:rPr>
              <a:t> becomes: ["I", "'m", " buying", " 12", " apples", "!"] </a:t>
            </a:r>
            <a:endParaRPr sz="900" dirty="0">
              <a:solidFill>
                <a:srgbClr val="FF0000"/>
              </a:solidFill>
            </a:endParaRPr>
          </a:p>
          <a:p>
            <a:pPr marL="0" lvl="0" indent="0" algn="l" rtl="0">
              <a:lnSpc>
                <a:spcPct val="115000"/>
              </a:lnSpc>
              <a:spcBef>
                <a:spcPts val="1200"/>
              </a:spcBef>
              <a:spcAft>
                <a:spcPts val="0"/>
              </a:spcAft>
              <a:buNone/>
            </a:pPr>
            <a:r>
              <a:rPr lang="en" sz="900" b="1" dirty="0">
                <a:solidFill>
                  <a:srgbClr val="FF0000"/>
                </a:solidFill>
              </a:rPr>
              <a:t>BPE then processes each chunk separately and cannot merge across these boundaries.</a:t>
            </a:r>
            <a:endParaRPr sz="900" b="1" dirty="0">
              <a:solidFill>
                <a:srgbClr val="FF0000"/>
              </a:solidFill>
            </a:endParaRPr>
          </a:p>
          <a:p>
            <a:pPr marL="457200" lvl="0" indent="0" algn="l" rtl="0">
              <a:lnSpc>
                <a:spcPct val="115000"/>
              </a:lnSpc>
              <a:spcBef>
                <a:spcPts val="1200"/>
              </a:spcBef>
              <a:spcAft>
                <a:spcPts val="0"/>
              </a:spcAft>
              <a:buNone/>
            </a:pPr>
            <a:endParaRPr sz="900" dirty="0">
              <a:solidFill>
                <a:srgbClr val="FF0000"/>
              </a:solidFill>
            </a:endParaRPr>
          </a:p>
          <a:p>
            <a:pPr marL="0" lvl="0" indent="0" algn="l" rtl="0">
              <a:spcBef>
                <a:spcPts val="1200"/>
              </a:spcBef>
              <a:spcAft>
                <a:spcPts val="0"/>
              </a:spcAft>
              <a:buNone/>
            </a:pPr>
            <a:endParaRPr sz="900" dirty="0">
              <a:solidFill>
                <a:srgbClr val="FF0000"/>
              </a:solidFill>
            </a:endParaRPr>
          </a:p>
        </p:txBody>
      </p:sp>
      <p:sp>
        <p:nvSpPr>
          <p:cNvPr id="184" name="Google Shape;184;p26"/>
          <p:cNvSpPr/>
          <p:nvPr/>
        </p:nvSpPr>
        <p:spPr>
          <a:xfrm rot="-5400000">
            <a:off x="5868590" y="446254"/>
            <a:ext cx="132900" cy="4885800"/>
          </a:xfrm>
          <a:prstGeom prst="lef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 name="Google Shape;185;p26"/>
          <p:cNvSpPr txBox="1"/>
          <p:nvPr/>
        </p:nvSpPr>
        <p:spPr>
          <a:xfrm>
            <a:off x="2046350" y="4744775"/>
            <a:ext cx="4947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https://github.com/openai/</a:t>
            </a:r>
            <a:r>
              <a:rPr lang="en" b="1"/>
              <a:t>gpt-2</a:t>
            </a:r>
            <a:r>
              <a:rPr lang="en"/>
              <a:t>/blob/master/src/encoder.py</a:t>
            </a:r>
            <a:endParaRPr/>
          </a:p>
        </p:txBody>
      </p:sp>
      <p:sp>
        <p:nvSpPr>
          <p:cNvPr id="186" name="Google Shape;18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p:nvPr/>
        </p:nvSpPr>
        <p:spPr>
          <a:xfrm>
            <a:off x="2662976" y="0"/>
            <a:ext cx="3818100" cy="5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GPT-2 vs GPT-4 Pre-tokenization </a:t>
            </a:r>
            <a:endParaRPr sz="1800" b="1">
              <a:solidFill>
                <a:schemeClr val="dk1"/>
              </a:solidFill>
            </a:endParaRPr>
          </a:p>
        </p:txBody>
      </p:sp>
      <p:sp>
        <p:nvSpPr>
          <p:cNvPr id="192" name="Google Shape;192;p27"/>
          <p:cNvSpPr txBox="1"/>
          <p:nvPr/>
        </p:nvSpPr>
        <p:spPr>
          <a:xfrm>
            <a:off x="1405914" y="4697900"/>
            <a:ext cx="6084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https://github.com/openai/tiktoken/blob/main/tiktoken_ext/openai_public.py</a:t>
            </a:r>
            <a:endParaRPr/>
          </a:p>
        </p:txBody>
      </p:sp>
      <p:grpSp>
        <p:nvGrpSpPr>
          <p:cNvPr id="193" name="Google Shape;193;p27"/>
          <p:cNvGrpSpPr/>
          <p:nvPr/>
        </p:nvGrpSpPr>
        <p:grpSpPr>
          <a:xfrm>
            <a:off x="973350" y="445600"/>
            <a:ext cx="7340514" cy="4252299"/>
            <a:chOff x="687600" y="445600"/>
            <a:chExt cx="7340514" cy="4252299"/>
          </a:xfrm>
        </p:grpSpPr>
        <p:pic>
          <p:nvPicPr>
            <p:cNvPr id="194" name="Google Shape;194;p27"/>
            <p:cNvPicPr preferRelativeResize="0"/>
            <p:nvPr/>
          </p:nvPicPr>
          <p:blipFill>
            <a:blip r:embed="rId4">
              <a:alphaModFix/>
            </a:blip>
            <a:stretch>
              <a:fillRect/>
            </a:stretch>
          </p:blipFill>
          <p:spPr>
            <a:xfrm>
              <a:off x="687600" y="445600"/>
              <a:ext cx="7085498" cy="4252299"/>
            </a:xfrm>
            <a:prstGeom prst="rect">
              <a:avLst/>
            </a:prstGeom>
            <a:noFill/>
            <a:ln>
              <a:noFill/>
            </a:ln>
          </p:spPr>
        </p:pic>
        <p:sp>
          <p:nvSpPr>
            <p:cNvPr id="195" name="Google Shape;195;p27"/>
            <p:cNvSpPr/>
            <p:nvPr/>
          </p:nvSpPr>
          <p:spPr>
            <a:xfrm rot="-5400000">
              <a:off x="4774002" y="328475"/>
              <a:ext cx="135000" cy="5831700"/>
            </a:xfrm>
            <a:prstGeom prst="lef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 name="Google Shape;196;p27"/>
            <p:cNvSpPr txBox="1"/>
            <p:nvPr/>
          </p:nvSpPr>
          <p:spPr>
            <a:xfrm>
              <a:off x="2580714" y="3272466"/>
              <a:ext cx="5447400" cy="992700"/>
            </a:xfrm>
            <a:prstGeom prst="rect">
              <a:avLst/>
            </a:prstGeom>
            <a:noFill/>
            <a:ln>
              <a:noFill/>
            </a:ln>
          </p:spPr>
          <p:txBody>
            <a:bodyPr spcFirstLastPara="1" wrap="square" lIns="91425" tIns="91425" rIns="91425" bIns="91425" anchor="t" anchorCtr="0">
              <a:spAutoFit/>
            </a:bodyPr>
            <a:lstStyle/>
            <a:p>
              <a:pPr marL="457200" lvl="0" indent="-273050" algn="l" rtl="0">
                <a:lnSpc>
                  <a:spcPct val="130000"/>
                </a:lnSpc>
                <a:spcBef>
                  <a:spcPts val="0"/>
                </a:spcBef>
                <a:spcAft>
                  <a:spcPts val="0"/>
                </a:spcAft>
                <a:buClr>
                  <a:srgbClr val="FF0000"/>
                </a:buClr>
                <a:buSzPts val="700"/>
                <a:buChar char="●"/>
              </a:pPr>
              <a:r>
                <a:rPr lang="en" sz="700">
                  <a:solidFill>
                    <a:srgbClr val="FF0000"/>
                  </a:solidFill>
                </a:rPr>
                <a:t>English contractions are now case-insensitive: both </a:t>
              </a:r>
              <a:r>
                <a:rPr lang="en" sz="700">
                  <a:solidFill>
                    <a:srgbClr val="FF0000"/>
                  </a:solidFill>
                  <a:latin typeface="Roboto Mono"/>
                  <a:ea typeface="Roboto Mono"/>
                  <a:cs typeface="Roboto Mono"/>
                  <a:sym typeface="Roboto Mono"/>
                </a:rPr>
                <a:t>'m</a:t>
              </a:r>
              <a:r>
                <a:rPr lang="en" sz="700">
                  <a:solidFill>
                    <a:srgbClr val="FF0000"/>
                  </a:solidFill>
                </a:rPr>
                <a:t> and </a:t>
              </a:r>
              <a:r>
                <a:rPr lang="en" sz="700">
                  <a:solidFill>
                    <a:srgbClr val="FF0000"/>
                  </a:solidFill>
                  <a:latin typeface="Roboto Mono"/>
                  <a:ea typeface="Roboto Mono"/>
                  <a:cs typeface="Roboto Mono"/>
                  <a:sym typeface="Roboto Mono"/>
                </a:rPr>
                <a:t>'M</a:t>
              </a:r>
              <a:r>
                <a:rPr lang="en" sz="700">
                  <a:solidFill>
                    <a:srgbClr val="FF0000"/>
                  </a:solidFill>
                </a:rPr>
                <a:t> are recognized</a:t>
              </a:r>
              <a:endParaRPr sz="70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a:solidFill>
                    <a:srgbClr val="FF0000"/>
                  </a:solidFill>
                </a:rPr>
                <a:t>Numbers are split into groups of 1–3 digits: </a:t>
              </a:r>
              <a:r>
                <a:rPr lang="en" sz="700">
                  <a:solidFill>
                    <a:srgbClr val="FF0000"/>
                  </a:solidFill>
                  <a:latin typeface="Roboto Mono"/>
                  <a:ea typeface="Roboto Mono"/>
                  <a:cs typeface="Roboto Mono"/>
                  <a:sym typeface="Roboto Mono"/>
                </a:rPr>
                <a:t>12345</a:t>
              </a:r>
              <a:r>
                <a:rPr lang="en" sz="700">
                  <a:solidFill>
                    <a:srgbClr val="FF0000"/>
                  </a:solidFill>
                </a:rPr>
                <a:t> becomes </a:t>
              </a:r>
              <a:r>
                <a:rPr lang="en" sz="700">
                  <a:solidFill>
                    <a:srgbClr val="FF0000"/>
                  </a:solidFill>
                  <a:latin typeface="Roboto Mono"/>
                  <a:ea typeface="Roboto Mono"/>
                  <a:cs typeface="Roboto Mono"/>
                  <a:sym typeface="Roboto Mono"/>
                </a:rPr>
                <a:t>"123"</a:t>
              </a:r>
              <a:r>
                <a:rPr lang="en" sz="700">
                  <a:solidFill>
                    <a:srgbClr val="FF0000"/>
                  </a:solidFill>
                </a:rPr>
                <a:t> and </a:t>
              </a:r>
              <a:r>
                <a:rPr lang="en" sz="700">
                  <a:solidFill>
                    <a:srgbClr val="FF0000"/>
                  </a:solidFill>
                  <a:latin typeface="Roboto Mono"/>
                  <a:ea typeface="Roboto Mono"/>
                  <a:cs typeface="Roboto Mono"/>
                  <a:sym typeface="Roboto Mono"/>
                </a:rPr>
                <a:t>"45"</a:t>
              </a:r>
              <a:r>
                <a:rPr lang="en" sz="700">
                  <a:solidFill>
                    <a:srgbClr val="FF0000"/>
                  </a:solidFill>
                </a:rPr>
                <a:t>, instead of one chunk</a:t>
              </a:r>
              <a:endParaRPr sz="70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a:solidFill>
                    <a:srgbClr val="FF0000"/>
                  </a:solidFill>
                </a:rPr>
                <a:t>Spaces before numbers are separated: </a:t>
              </a:r>
              <a:r>
                <a:rPr lang="en" sz="700">
                  <a:solidFill>
                    <a:srgbClr val="FF0000"/>
                  </a:solidFill>
                  <a:latin typeface="Roboto Mono"/>
                  <a:ea typeface="Roboto Mono"/>
                  <a:cs typeface="Roboto Mono"/>
                  <a:sym typeface="Roboto Mono"/>
                </a:rPr>
                <a:t>" 42"</a:t>
              </a:r>
              <a:r>
                <a:rPr lang="en" sz="700">
                  <a:solidFill>
                    <a:srgbClr val="FF0000"/>
                  </a:solidFill>
                </a:rPr>
                <a:t> becomes </a:t>
              </a:r>
              <a:r>
                <a:rPr lang="en" sz="700">
                  <a:solidFill>
                    <a:srgbClr val="FF0000"/>
                  </a:solidFill>
                  <a:latin typeface="Roboto Mono"/>
                  <a:ea typeface="Roboto Mono"/>
                  <a:cs typeface="Roboto Mono"/>
                  <a:sym typeface="Roboto Mono"/>
                </a:rPr>
                <a:t>" "</a:t>
              </a:r>
              <a:r>
                <a:rPr lang="en" sz="700">
                  <a:solidFill>
                    <a:srgbClr val="FF0000"/>
                  </a:solidFill>
                </a:rPr>
                <a:t> and </a:t>
              </a:r>
              <a:r>
                <a:rPr lang="en" sz="700">
                  <a:solidFill>
                    <a:srgbClr val="FF0000"/>
                  </a:solidFill>
                  <a:latin typeface="Roboto Mono"/>
                  <a:ea typeface="Roboto Mono"/>
                  <a:cs typeface="Roboto Mono"/>
                  <a:sym typeface="Roboto Mono"/>
                </a:rPr>
                <a:t>"42"</a:t>
              </a:r>
              <a:endParaRPr sz="70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a:solidFill>
                    <a:srgbClr val="FF0000"/>
                  </a:solidFill>
                </a:rPr>
                <a:t>Words can include a preceding symbol: </a:t>
              </a:r>
              <a:r>
                <a:rPr lang="en" sz="700">
                  <a:solidFill>
                    <a:srgbClr val="FF0000"/>
                  </a:solidFill>
                  <a:latin typeface="Roboto Mono"/>
                  <a:ea typeface="Roboto Mono"/>
                  <a:cs typeface="Roboto Mono"/>
                  <a:sym typeface="Roboto Mono"/>
                </a:rPr>
                <a:t>"_hello"</a:t>
              </a:r>
              <a:r>
                <a:rPr lang="en" sz="700">
                  <a:solidFill>
                    <a:srgbClr val="FF0000"/>
                  </a:solidFill>
                </a:rPr>
                <a:t> can stay together, whereas GPT-2 separates </a:t>
              </a:r>
              <a:r>
                <a:rPr lang="en" sz="700">
                  <a:solidFill>
                    <a:srgbClr val="FF0000"/>
                  </a:solidFill>
                  <a:latin typeface="Roboto Mono"/>
                  <a:ea typeface="Roboto Mono"/>
                  <a:cs typeface="Roboto Mono"/>
                  <a:sym typeface="Roboto Mono"/>
                </a:rPr>
                <a:t>"_"</a:t>
              </a:r>
              <a:r>
                <a:rPr lang="en" sz="700">
                  <a:solidFill>
                    <a:srgbClr val="FF0000"/>
                  </a:solidFill>
                </a:rPr>
                <a:t> and </a:t>
              </a:r>
              <a:r>
                <a:rPr lang="en" sz="700">
                  <a:solidFill>
                    <a:srgbClr val="FF0000"/>
                  </a:solidFill>
                  <a:latin typeface="Roboto Mono"/>
                  <a:ea typeface="Roboto Mono"/>
                  <a:cs typeface="Roboto Mono"/>
                  <a:sym typeface="Roboto Mono"/>
                </a:rPr>
                <a:t>"hello"</a:t>
              </a:r>
              <a:endParaRPr sz="700">
                <a:solidFill>
                  <a:srgbClr val="FF0000"/>
                </a:solidFill>
              </a:endParaRPr>
            </a:p>
            <a:p>
              <a:pPr marL="0" lvl="0" indent="457200" algn="l" rtl="0">
                <a:lnSpc>
                  <a:spcPct val="130000"/>
                </a:lnSpc>
                <a:spcBef>
                  <a:spcPts val="0"/>
                </a:spcBef>
                <a:spcAft>
                  <a:spcPts val="0"/>
                </a:spcAft>
                <a:buNone/>
              </a:pPr>
              <a:r>
                <a:rPr lang="en" sz="700">
                  <a:solidFill>
                    <a:srgbClr val="FF0000"/>
                  </a:solidFill>
                </a:rPr>
                <a:t>Previously, only a preceding space could attach to a group of letters.</a:t>
              </a:r>
              <a:endParaRPr sz="70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a:solidFill>
                    <a:srgbClr val="FF0000"/>
                  </a:solidFill>
                </a:rPr>
                <a:t>Punctuation can include following line breaks: </a:t>
              </a:r>
              <a:r>
                <a:rPr lang="en" sz="700">
                  <a:solidFill>
                    <a:srgbClr val="FF0000"/>
                  </a:solidFill>
                  <a:latin typeface="Roboto Mono"/>
                  <a:ea typeface="Roboto Mono"/>
                  <a:cs typeface="Roboto Mono"/>
                  <a:sym typeface="Roboto Mono"/>
                </a:rPr>
                <a:t>"!\n"</a:t>
              </a:r>
              <a:r>
                <a:rPr lang="en" sz="700">
                  <a:solidFill>
                    <a:srgbClr val="FF0000"/>
                  </a:solidFill>
                </a:rPr>
                <a:t> can stay together, whereas GPT-2 separates </a:t>
              </a:r>
              <a:r>
                <a:rPr lang="en" sz="700">
                  <a:solidFill>
                    <a:srgbClr val="FF0000"/>
                  </a:solidFill>
                  <a:latin typeface="Roboto Mono"/>
                  <a:ea typeface="Roboto Mono"/>
                  <a:cs typeface="Roboto Mono"/>
                  <a:sym typeface="Roboto Mono"/>
                </a:rPr>
                <a:t>"!"</a:t>
              </a:r>
              <a:r>
                <a:rPr lang="en" sz="700">
                  <a:solidFill>
                    <a:srgbClr val="FF0000"/>
                  </a:solidFill>
                </a:rPr>
                <a:t> and </a:t>
              </a:r>
              <a:r>
                <a:rPr lang="en" sz="700">
                  <a:solidFill>
                    <a:srgbClr val="FF0000"/>
                  </a:solidFill>
                  <a:latin typeface="Roboto Mono"/>
                  <a:ea typeface="Roboto Mono"/>
                  <a:cs typeface="Roboto Mono"/>
                  <a:sym typeface="Roboto Mono"/>
                </a:rPr>
                <a:t>"\n"</a:t>
              </a:r>
              <a:endParaRPr sz="700">
                <a:solidFill>
                  <a:srgbClr val="FF0000"/>
                </a:solidFill>
              </a:endParaRPr>
            </a:p>
          </p:txBody>
        </p:sp>
        <p:sp>
          <p:nvSpPr>
            <p:cNvPr id="197" name="Google Shape;197;p27"/>
            <p:cNvSpPr txBox="1"/>
            <p:nvPr/>
          </p:nvSpPr>
          <p:spPr>
            <a:xfrm>
              <a:off x="2161825" y="1757750"/>
              <a:ext cx="5539800" cy="1139100"/>
            </a:xfrm>
            <a:prstGeom prst="rect">
              <a:avLst/>
            </a:prstGeom>
            <a:noFill/>
            <a:ln>
              <a:noFill/>
            </a:ln>
          </p:spPr>
          <p:txBody>
            <a:bodyPr spcFirstLastPara="1" wrap="square" lIns="91425" tIns="91425" rIns="91425" bIns="91425" anchor="t" anchorCtr="0">
              <a:spAutoFit/>
            </a:bodyPr>
            <a:lstStyle/>
            <a:p>
              <a:pPr marL="0" lvl="0" indent="0" algn="l" rtl="0">
                <a:lnSpc>
                  <a:spcPct val="50000"/>
                </a:lnSpc>
                <a:spcBef>
                  <a:spcPts val="1200"/>
                </a:spcBef>
                <a:spcAft>
                  <a:spcPts val="0"/>
                </a:spcAft>
                <a:buNone/>
              </a:pPr>
              <a:r>
                <a:rPr lang="en" sz="1000" b="1">
                  <a:solidFill>
                    <a:srgbClr val="FF9900"/>
                  </a:solidFill>
                </a:rPr>
                <a:t>Example text: “_hello I'M buying 12345!\n” where, “\n” represents a new line / line break.</a:t>
              </a:r>
              <a:endParaRPr sz="1000" b="1">
                <a:solidFill>
                  <a:srgbClr val="FF9900"/>
                </a:solidFill>
              </a:endParaRPr>
            </a:p>
            <a:p>
              <a:pPr marL="0" lvl="0" indent="0" algn="l" rtl="0">
                <a:lnSpc>
                  <a:spcPct val="50000"/>
                </a:lnSpc>
                <a:spcBef>
                  <a:spcPts val="1200"/>
                </a:spcBef>
                <a:spcAft>
                  <a:spcPts val="0"/>
                </a:spcAft>
                <a:buNone/>
              </a:pPr>
              <a:r>
                <a:rPr lang="en" sz="1000" b="1">
                  <a:solidFill>
                    <a:srgbClr val="FF9900"/>
                  </a:solidFill>
                </a:rPr>
                <a:t>GPT-2: ["_", "hello", " I", "'", "M", " buying", " 12345", "!", "\n"]</a:t>
              </a:r>
              <a:endParaRPr sz="1000" b="1">
                <a:solidFill>
                  <a:srgbClr val="FF9900"/>
                </a:solidFill>
              </a:endParaRPr>
            </a:p>
            <a:p>
              <a:pPr marL="0" lvl="0" indent="0" algn="l" rtl="0">
                <a:lnSpc>
                  <a:spcPct val="50000"/>
                </a:lnSpc>
                <a:spcBef>
                  <a:spcPts val="1200"/>
                </a:spcBef>
                <a:spcAft>
                  <a:spcPts val="0"/>
                </a:spcAft>
                <a:buNone/>
              </a:pPr>
              <a:r>
                <a:rPr lang="en" sz="1000" b="1">
                  <a:solidFill>
                    <a:srgbClr val="FF9900"/>
                  </a:solidFill>
                </a:rPr>
                <a:t>New regex: ["_hello", " I", "'M", " buying", " ", "123", "45", "!\n"]</a:t>
              </a:r>
              <a:endParaRPr sz="1000" b="1">
                <a:solidFill>
                  <a:srgbClr val="FF9900"/>
                </a:solidFill>
              </a:endParaRPr>
            </a:p>
            <a:p>
              <a:pPr marL="0" lvl="0" indent="0" algn="l" rtl="0">
                <a:lnSpc>
                  <a:spcPct val="85000"/>
                </a:lnSpc>
                <a:spcBef>
                  <a:spcPts val="1200"/>
                </a:spcBef>
                <a:spcAft>
                  <a:spcPts val="1200"/>
                </a:spcAft>
                <a:buNone/>
              </a:pPr>
              <a:r>
                <a:rPr lang="en" sz="1000" b="1">
                  <a:solidFill>
                    <a:srgbClr val="FF9900"/>
                  </a:solidFill>
                </a:rPr>
                <a:t>The new regex keeps “_hello”, “'M”, and “!\n” together, but separates the space before the number and splits the digits into groups of up to three.</a:t>
              </a:r>
              <a:endParaRPr sz="1000" b="1">
                <a:solidFill>
                  <a:srgbClr val="FF9900"/>
                </a:solidFill>
              </a:endParaRPr>
            </a:p>
          </p:txBody>
        </p:sp>
        <p:sp>
          <p:nvSpPr>
            <p:cNvPr id="198" name="Google Shape;198;p27"/>
            <p:cNvSpPr txBox="1"/>
            <p:nvPr/>
          </p:nvSpPr>
          <p:spPr>
            <a:xfrm>
              <a:off x="1793150" y="932750"/>
              <a:ext cx="5964300" cy="29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FFFF00"/>
                  </a:solidFill>
                </a:rPr>
                <a:t>cl100k_base is the tokenizer used by the original GPT-4, GPT-4 Turbo, and GPT-3.5 Turbo </a:t>
              </a:r>
              <a:endParaRPr sz="1100">
                <a:solidFill>
                  <a:srgbClr val="FFFF00"/>
                </a:solidFill>
              </a:endParaRPr>
            </a:p>
          </p:txBody>
        </p:sp>
      </p:grpSp>
      <p:sp>
        <p:nvSpPr>
          <p:cNvPr id="199" name="Google Shape;199;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p:nvPr/>
        </p:nvSpPr>
        <p:spPr>
          <a:xfrm>
            <a:off x="3251250" y="0"/>
            <a:ext cx="28047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GPT-4 Special Tokens</a:t>
            </a:r>
            <a:endParaRPr sz="1800" b="1">
              <a:solidFill>
                <a:schemeClr val="dk1"/>
              </a:solidFill>
            </a:endParaRPr>
          </a:p>
        </p:txBody>
      </p:sp>
      <p:sp>
        <p:nvSpPr>
          <p:cNvPr id="205" name="Google Shape;205;p28"/>
          <p:cNvSpPr txBox="1"/>
          <p:nvPr/>
        </p:nvSpPr>
        <p:spPr>
          <a:xfrm>
            <a:off x="249846" y="833421"/>
            <a:ext cx="30000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special_tokens = {</a:t>
            </a:r>
            <a:endParaRPr b="1"/>
          </a:p>
          <a:p>
            <a:pPr marL="0" lvl="0" indent="0" algn="l" rtl="0">
              <a:spcBef>
                <a:spcPts val="0"/>
              </a:spcBef>
              <a:spcAft>
                <a:spcPts val="0"/>
              </a:spcAft>
              <a:buNone/>
            </a:pPr>
            <a:r>
              <a:rPr lang="en" b="1"/>
              <a:t>        ENDOFTEXT: 100257,</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FIM_PREFIX: 100258,</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FIM_MIDDLE: 100259,</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FIM_SUFFIX: 100260,</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ENDOFPROMPT: 100276,</a:t>
            </a:r>
            <a:endParaRPr b="1"/>
          </a:p>
          <a:p>
            <a:pPr marL="0" lvl="0" indent="0" algn="l" rtl="0">
              <a:spcBef>
                <a:spcPts val="0"/>
              </a:spcBef>
              <a:spcAft>
                <a:spcPts val="0"/>
              </a:spcAft>
              <a:buNone/>
            </a:pPr>
            <a:r>
              <a:rPr lang="en" b="1"/>
              <a:t>}</a:t>
            </a:r>
            <a:endParaRPr b="1"/>
          </a:p>
        </p:txBody>
      </p:sp>
      <p:sp>
        <p:nvSpPr>
          <p:cNvPr id="206" name="Google Shape;206;p28"/>
          <p:cNvSpPr txBox="1"/>
          <p:nvPr/>
        </p:nvSpPr>
        <p:spPr>
          <a:xfrm>
            <a:off x="3055925" y="1043187"/>
            <a:ext cx="5053500" cy="3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Marks the end of a document or text sequence. </a:t>
            </a:r>
            <a:endParaRPr sz="1200">
              <a:solidFill>
                <a:schemeClr val="dk1"/>
              </a:solidFill>
            </a:endParaRPr>
          </a:p>
        </p:txBody>
      </p:sp>
      <p:sp>
        <p:nvSpPr>
          <p:cNvPr id="207" name="Google Shape;207;p28"/>
          <p:cNvSpPr txBox="1"/>
          <p:nvPr/>
        </p:nvSpPr>
        <p:spPr>
          <a:xfrm>
            <a:off x="3045542" y="2775042"/>
            <a:ext cx="6238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Marks the end of the supplied prompt, after which the model generates its completion. </a:t>
            </a:r>
            <a:endParaRPr sz="1200"/>
          </a:p>
        </p:txBody>
      </p:sp>
      <p:sp>
        <p:nvSpPr>
          <p:cNvPr id="208" name="Google Shape;208;p28"/>
          <p:cNvSpPr txBox="1"/>
          <p:nvPr/>
        </p:nvSpPr>
        <p:spPr>
          <a:xfrm>
            <a:off x="3055926" y="1482396"/>
            <a:ext cx="3333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Ex: “Here is the text </a:t>
            </a:r>
            <a:r>
              <a:rPr lang="en" sz="1100" b="1">
                <a:solidFill>
                  <a:schemeClr val="dk1"/>
                </a:solidFill>
              </a:rPr>
              <a:t>before the gap</a:t>
            </a:r>
            <a:r>
              <a:rPr lang="en" sz="1100">
                <a:solidFill>
                  <a:schemeClr val="dk1"/>
                </a:solidFill>
              </a:rPr>
              <a:t>: </a:t>
            </a:r>
            <a:r>
              <a:rPr lang="en" sz="1100" i="1">
                <a:solidFill>
                  <a:schemeClr val="dk1"/>
                </a:solidFill>
              </a:rPr>
              <a:t>The cat</a:t>
            </a:r>
            <a:r>
              <a:rPr lang="en" sz="1100">
                <a:solidFill>
                  <a:schemeClr val="dk1"/>
                </a:solidFill>
              </a:rPr>
              <a:t>” </a:t>
            </a:r>
            <a:endParaRPr/>
          </a:p>
        </p:txBody>
      </p:sp>
      <p:sp>
        <p:nvSpPr>
          <p:cNvPr id="209" name="Google Shape;209;p28"/>
          <p:cNvSpPr txBox="1"/>
          <p:nvPr/>
        </p:nvSpPr>
        <p:spPr>
          <a:xfrm>
            <a:off x="3055933" y="2351587"/>
            <a:ext cx="3143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Ex: “Here is the text </a:t>
            </a:r>
            <a:r>
              <a:rPr lang="en" sz="1100" b="1">
                <a:solidFill>
                  <a:schemeClr val="dk1"/>
                </a:solidFill>
              </a:rPr>
              <a:t>after the gap</a:t>
            </a:r>
            <a:r>
              <a:rPr lang="en" sz="1100">
                <a:solidFill>
                  <a:schemeClr val="dk1"/>
                </a:solidFill>
              </a:rPr>
              <a:t>:</a:t>
            </a:r>
            <a:r>
              <a:rPr lang="en" sz="1100" i="1">
                <a:solidFill>
                  <a:schemeClr val="dk1"/>
                </a:solidFill>
              </a:rPr>
              <a:t> on the mat.</a:t>
            </a:r>
            <a:r>
              <a:rPr lang="en" sz="1100">
                <a:solidFill>
                  <a:schemeClr val="dk1"/>
                </a:solidFill>
              </a:rPr>
              <a:t>” </a:t>
            </a:r>
            <a:endParaRPr/>
          </a:p>
        </p:txBody>
      </p:sp>
      <p:sp>
        <p:nvSpPr>
          <p:cNvPr id="210" name="Google Shape;210;p28"/>
          <p:cNvSpPr txBox="1"/>
          <p:nvPr/>
        </p:nvSpPr>
        <p:spPr>
          <a:xfrm>
            <a:off x="3055925" y="1898394"/>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Ex: “Now </a:t>
            </a:r>
            <a:r>
              <a:rPr lang="en" sz="1100" b="1">
                <a:solidFill>
                  <a:schemeClr val="dk1"/>
                </a:solidFill>
              </a:rPr>
              <a:t>generate the missing text</a:t>
            </a:r>
            <a:r>
              <a:rPr lang="en" sz="1100">
                <a:solidFill>
                  <a:schemeClr val="dk1"/>
                </a:solidFill>
              </a:rPr>
              <a:t>.” </a:t>
            </a:r>
            <a:endParaRPr/>
          </a:p>
        </p:txBody>
      </p:sp>
      <p:sp>
        <p:nvSpPr>
          <p:cNvPr id="211" name="Google Shape;211;p28"/>
          <p:cNvSpPr txBox="1"/>
          <p:nvPr/>
        </p:nvSpPr>
        <p:spPr>
          <a:xfrm>
            <a:off x="6389825" y="1713025"/>
            <a:ext cx="2529900" cy="7500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1366">
                <a:solidFill>
                  <a:srgbClr val="FF0000"/>
                </a:solidFill>
              </a:rPr>
              <a:t>The cat     sat     on the mat.</a:t>
            </a:r>
            <a:endParaRPr sz="1366">
              <a:solidFill>
                <a:srgbClr val="FF0000"/>
              </a:solidFill>
            </a:endParaRPr>
          </a:p>
        </p:txBody>
      </p:sp>
      <p:sp>
        <p:nvSpPr>
          <p:cNvPr id="212" name="Google Shape;212;p28"/>
          <p:cNvSpPr/>
          <p:nvPr/>
        </p:nvSpPr>
        <p:spPr>
          <a:xfrm rot="-5400000">
            <a:off x="6703467" y="1755627"/>
            <a:ext cx="100500" cy="577200"/>
          </a:xfrm>
          <a:prstGeom prst="leftBrace">
            <a:avLst>
              <a:gd name="adj1" fmla="val 50000"/>
              <a:gd name="adj2" fmla="val 50000"/>
            </a:avLst>
          </a:prstGeom>
          <a:noFill/>
          <a:ln w="7250" cap="flat" cmpd="sng">
            <a:solidFill>
              <a:schemeClr val="dk2"/>
            </a:solidFill>
            <a:prstDash val="solid"/>
            <a:round/>
            <a:headEnd type="none" w="sm" len="sm"/>
            <a:tailEnd type="none" w="sm" len="sm"/>
          </a:ln>
        </p:spPr>
        <p:txBody>
          <a:bodyPr spcFirstLastPara="1" wrap="square" lIns="69375" tIns="69375" rIns="69375" bIns="69375" anchor="ctr" anchorCtr="0">
            <a:noAutofit/>
          </a:bodyPr>
          <a:lstStyle/>
          <a:p>
            <a:pPr marL="0" lvl="0" indent="0" algn="ctr" rtl="0">
              <a:spcBef>
                <a:spcPts val="0"/>
              </a:spcBef>
              <a:spcAft>
                <a:spcPts val="0"/>
              </a:spcAft>
              <a:buNone/>
            </a:pPr>
            <a:endParaRPr sz="1062">
              <a:solidFill>
                <a:schemeClr val="dk1"/>
              </a:solidFill>
            </a:endParaRPr>
          </a:p>
        </p:txBody>
      </p:sp>
      <p:sp>
        <p:nvSpPr>
          <p:cNvPr id="213" name="Google Shape;213;p28"/>
          <p:cNvSpPr/>
          <p:nvPr/>
        </p:nvSpPr>
        <p:spPr>
          <a:xfrm rot="-5400000">
            <a:off x="8146743" y="1602777"/>
            <a:ext cx="100200" cy="883200"/>
          </a:xfrm>
          <a:prstGeom prst="leftBrace">
            <a:avLst>
              <a:gd name="adj1" fmla="val 50000"/>
              <a:gd name="adj2" fmla="val 50000"/>
            </a:avLst>
          </a:prstGeom>
          <a:noFill/>
          <a:ln w="7250" cap="flat" cmpd="sng">
            <a:solidFill>
              <a:schemeClr val="dk2"/>
            </a:solidFill>
            <a:prstDash val="solid"/>
            <a:round/>
            <a:headEnd type="none" w="sm" len="sm"/>
            <a:tailEnd type="none" w="sm" len="sm"/>
          </a:ln>
        </p:spPr>
        <p:txBody>
          <a:bodyPr spcFirstLastPara="1" wrap="square" lIns="69375" tIns="69375" rIns="69375" bIns="69375" anchor="ctr" anchorCtr="0">
            <a:noAutofit/>
          </a:bodyPr>
          <a:lstStyle/>
          <a:p>
            <a:pPr marL="0" lvl="0" indent="0" algn="ctr" rtl="0">
              <a:spcBef>
                <a:spcPts val="0"/>
              </a:spcBef>
              <a:spcAft>
                <a:spcPts val="0"/>
              </a:spcAft>
              <a:buNone/>
            </a:pPr>
            <a:endParaRPr sz="1062">
              <a:solidFill>
                <a:schemeClr val="dk1"/>
              </a:solidFill>
            </a:endParaRPr>
          </a:p>
        </p:txBody>
      </p:sp>
      <p:sp>
        <p:nvSpPr>
          <p:cNvPr id="214" name="Google Shape;214;p28"/>
          <p:cNvSpPr/>
          <p:nvPr/>
        </p:nvSpPr>
        <p:spPr>
          <a:xfrm rot="-5400000">
            <a:off x="7351328" y="1869327"/>
            <a:ext cx="95100" cy="355200"/>
          </a:xfrm>
          <a:prstGeom prst="leftBrace">
            <a:avLst>
              <a:gd name="adj1" fmla="val 50000"/>
              <a:gd name="adj2" fmla="val 50000"/>
            </a:avLst>
          </a:prstGeom>
          <a:noFill/>
          <a:ln w="7250" cap="flat" cmpd="sng">
            <a:solidFill>
              <a:schemeClr val="dk2"/>
            </a:solidFill>
            <a:prstDash val="solid"/>
            <a:round/>
            <a:headEnd type="none" w="sm" len="sm"/>
            <a:tailEnd type="none" w="sm" len="sm"/>
          </a:ln>
        </p:spPr>
        <p:txBody>
          <a:bodyPr spcFirstLastPara="1" wrap="square" lIns="69375" tIns="69375" rIns="69375" bIns="69375" anchor="ctr" anchorCtr="0">
            <a:noAutofit/>
          </a:bodyPr>
          <a:lstStyle/>
          <a:p>
            <a:pPr marL="0" lvl="0" indent="0" algn="ctr" rtl="0">
              <a:spcBef>
                <a:spcPts val="0"/>
              </a:spcBef>
              <a:spcAft>
                <a:spcPts val="0"/>
              </a:spcAft>
              <a:buNone/>
            </a:pPr>
            <a:endParaRPr sz="1062">
              <a:solidFill>
                <a:schemeClr val="dk1"/>
              </a:solidFill>
            </a:endParaRPr>
          </a:p>
        </p:txBody>
      </p:sp>
      <p:sp>
        <p:nvSpPr>
          <p:cNvPr id="215" name="Google Shape;215;p28"/>
          <p:cNvSpPr txBox="1"/>
          <p:nvPr/>
        </p:nvSpPr>
        <p:spPr>
          <a:xfrm>
            <a:off x="6404887" y="2104569"/>
            <a:ext cx="722700" cy="1809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911">
                <a:solidFill>
                  <a:srgbClr val="4A86E8"/>
                </a:solidFill>
              </a:rPr>
              <a:t>fim_prefix</a:t>
            </a:r>
            <a:endParaRPr sz="911">
              <a:solidFill>
                <a:srgbClr val="4A86E8"/>
              </a:solidFill>
            </a:endParaRPr>
          </a:p>
        </p:txBody>
      </p:sp>
      <p:sp>
        <p:nvSpPr>
          <p:cNvPr id="216" name="Google Shape;216;p28"/>
          <p:cNvSpPr txBox="1"/>
          <p:nvPr/>
        </p:nvSpPr>
        <p:spPr>
          <a:xfrm>
            <a:off x="7865601" y="2102293"/>
            <a:ext cx="722700" cy="1809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911">
                <a:solidFill>
                  <a:srgbClr val="4A86E8"/>
                </a:solidFill>
              </a:rPr>
              <a:t>fim_suffix</a:t>
            </a:r>
            <a:endParaRPr sz="911">
              <a:solidFill>
                <a:srgbClr val="4A86E8"/>
              </a:solidFill>
            </a:endParaRPr>
          </a:p>
        </p:txBody>
      </p:sp>
      <p:sp>
        <p:nvSpPr>
          <p:cNvPr id="217" name="Google Shape;217;p28"/>
          <p:cNvSpPr txBox="1"/>
          <p:nvPr/>
        </p:nvSpPr>
        <p:spPr>
          <a:xfrm>
            <a:off x="7068721" y="2104569"/>
            <a:ext cx="722700" cy="1809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911">
                <a:solidFill>
                  <a:srgbClr val="4A86E8"/>
                </a:solidFill>
              </a:rPr>
              <a:t>fim_middle</a:t>
            </a:r>
            <a:endParaRPr sz="911">
              <a:solidFill>
                <a:srgbClr val="4A86E8"/>
              </a:solidFill>
            </a:endParaRPr>
          </a:p>
        </p:txBody>
      </p:sp>
      <p:sp>
        <p:nvSpPr>
          <p:cNvPr id="218" name="Google Shape;218;p28"/>
          <p:cNvSpPr txBox="1"/>
          <p:nvPr/>
        </p:nvSpPr>
        <p:spPr>
          <a:xfrm>
            <a:off x="241050" y="3388525"/>
            <a:ext cx="82314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Example:</a:t>
            </a:r>
            <a:r>
              <a:rPr lang="en">
                <a:solidFill>
                  <a:srgbClr val="FF0000"/>
                </a:solidFill>
              </a:rPr>
              <a:t> </a:t>
            </a:r>
            <a:endParaRPr>
              <a:solidFill>
                <a:srgbClr val="FF0000"/>
              </a:solidFill>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The model receives: </a:t>
            </a:r>
            <a:r>
              <a:rPr lang="en" b="1"/>
              <a:t>&lt;|fim_prefix|&gt;</a:t>
            </a:r>
            <a:r>
              <a:rPr lang="en"/>
              <a:t>The cat</a:t>
            </a:r>
            <a:r>
              <a:rPr lang="en" b="1"/>
              <a:t>&lt;|fim_suffix|&gt;</a:t>
            </a:r>
            <a:r>
              <a:rPr lang="en"/>
              <a:t> on the mat.</a:t>
            </a:r>
            <a:r>
              <a:rPr lang="en" b="1"/>
              <a:t>&lt;|fim_middle|&gt;</a:t>
            </a:r>
            <a:endParaRPr b="1"/>
          </a:p>
          <a:p>
            <a:pPr marL="457200" lvl="0" indent="0" algn="l" rtl="0">
              <a:spcBef>
                <a:spcPts val="0"/>
              </a:spcBef>
              <a:spcAft>
                <a:spcPts val="0"/>
              </a:spcAft>
              <a:buNone/>
            </a:pPr>
            <a:endParaRPr b="1"/>
          </a:p>
          <a:p>
            <a:pPr marL="457200" lvl="0" indent="-317500" algn="l" rtl="0">
              <a:spcBef>
                <a:spcPts val="0"/>
              </a:spcBef>
              <a:spcAft>
                <a:spcPts val="0"/>
              </a:spcAft>
              <a:buSzPts val="1400"/>
              <a:buChar char="➢"/>
            </a:pPr>
            <a:r>
              <a:rPr lang="en"/>
              <a:t>And then generates the missing middle: “ sat”</a:t>
            </a:r>
            <a:endParaRPr/>
          </a:p>
        </p:txBody>
      </p:sp>
      <p:sp>
        <p:nvSpPr>
          <p:cNvPr id="219" name="Google Shape;219;p28"/>
          <p:cNvSpPr txBox="1"/>
          <p:nvPr/>
        </p:nvSpPr>
        <p:spPr>
          <a:xfrm>
            <a:off x="1881425" y="4789500"/>
            <a:ext cx="5160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222222"/>
                </a:solidFill>
              </a:rPr>
              <a:t>Bavarian, Mohammad, et al. "Efficient training of language models to fill in the middle."</a:t>
            </a:r>
            <a:r>
              <a:rPr lang="en" sz="1100">
                <a:solidFill>
                  <a:schemeClr val="dk1"/>
                </a:solidFill>
              </a:rPr>
              <a:t> </a:t>
            </a:r>
            <a:endParaRPr/>
          </a:p>
        </p:txBody>
      </p:sp>
      <p:sp>
        <p:nvSpPr>
          <p:cNvPr id="220" name="Google Shape;22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p:nvPr/>
        </p:nvSpPr>
        <p:spPr>
          <a:xfrm>
            <a:off x="2794000" y="3425"/>
            <a:ext cx="3764786"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rPr>
              <a:t>Special Tokens Enable Tool Use </a:t>
            </a:r>
            <a:endParaRPr sz="1800" b="1" dirty="0">
              <a:solidFill>
                <a:schemeClr val="dk1"/>
              </a:solidFill>
            </a:endParaRPr>
          </a:p>
        </p:txBody>
      </p:sp>
      <p:pic>
        <p:nvPicPr>
          <p:cNvPr id="226" name="Google Shape;226;p29"/>
          <p:cNvPicPr preferRelativeResize="0"/>
          <p:nvPr/>
        </p:nvPicPr>
        <p:blipFill>
          <a:blip r:embed="rId3">
            <a:alphaModFix/>
          </a:blip>
          <a:stretch>
            <a:fillRect/>
          </a:stretch>
        </p:blipFill>
        <p:spPr>
          <a:xfrm>
            <a:off x="449050" y="558775"/>
            <a:ext cx="8409201" cy="3869975"/>
          </a:xfrm>
          <a:prstGeom prst="rect">
            <a:avLst/>
          </a:prstGeom>
          <a:noFill/>
          <a:ln>
            <a:noFill/>
          </a:ln>
        </p:spPr>
      </p:pic>
      <p:sp>
        <p:nvSpPr>
          <p:cNvPr id="227" name="Google Shape;227;p29"/>
          <p:cNvSpPr txBox="1"/>
          <p:nvPr/>
        </p:nvSpPr>
        <p:spPr>
          <a:xfrm>
            <a:off x="6917939" y="1870743"/>
            <a:ext cx="1748400" cy="9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rPr>
              <a:t>Note how the special tokens are a single block.</a:t>
            </a:r>
            <a:endParaRPr>
              <a:solidFill>
                <a:srgbClr val="FF0000"/>
              </a:solidFill>
            </a:endParaRPr>
          </a:p>
        </p:txBody>
      </p:sp>
      <p:sp>
        <p:nvSpPr>
          <p:cNvPr id="228" name="Google Shape;228;p29"/>
          <p:cNvSpPr txBox="1"/>
          <p:nvPr/>
        </p:nvSpPr>
        <p:spPr>
          <a:xfrm>
            <a:off x="942262" y="4709575"/>
            <a:ext cx="6961800" cy="30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Search</a:t>
            </a:r>
            <a:r>
              <a:rPr lang="en" b="1" i="1">
                <a:solidFill>
                  <a:schemeClr val="dk1"/>
                </a:solidFill>
              </a:rPr>
              <a:t> “special_tokens”</a:t>
            </a:r>
            <a:r>
              <a:rPr lang="en">
                <a:solidFill>
                  <a:schemeClr val="dk1"/>
                </a:solidFill>
              </a:rPr>
              <a:t> → </a:t>
            </a:r>
            <a:r>
              <a:rPr lang="en" u="sng">
                <a:solidFill>
                  <a:schemeClr val="hlink"/>
                </a:solidFill>
                <a:hlinkClick r:id="rId4"/>
              </a:rPr>
              <a:t>https://github.com/openai/tiktoken/blob/main/src/lib.rs</a:t>
            </a:r>
            <a:endParaRPr>
              <a:solidFill>
                <a:schemeClr val="dk1"/>
              </a:solidFill>
            </a:endParaRPr>
          </a:p>
        </p:txBody>
      </p:sp>
      <p:sp>
        <p:nvSpPr>
          <p:cNvPr id="229" name="Google Shape;229;p29"/>
          <p:cNvSpPr txBox="1"/>
          <p:nvPr/>
        </p:nvSpPr>
        <p:spPr>
          <a:xfrm>
            <a:off x="449050" y="2951000"/>
            <a:ext cx="4281600" cy="163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Special tokens</a:t>
            </a:r>
            <a:r>
              <a:rPr lang="en">
                <a:solidFill>
                  <a:schemeClr val="dk1"/>
                </a:solidFill>
              </a:rPr>
              <a:t> are indivisible markers that structure messages and tool calls, e.g. </a:t>
            </a:r>
            <a:r>
              <a:rPr lang="en">
                <a:solidFill>
                  <a:schemeClr val="accent1"/>
                </a:solidFill>
                <a:latin typeface="Roboto Mono"/>
                <a:ea typeface="Roboto Mono"/>
                <a:cs typeface="Roboto Mono"/>
                <a:sym typeface="Roboto Mono"/>
              </a:rPr>
              <a:t>&lt;message&gt;</a:t>
            </a:r>
            <a:r>
              <a:rPr lang="en">
                <a:solidFill>
                  <a:schemeClr val="dk1"/>
                </a:solidFill>
              </a:rPr>
              <a:t> and </a:t>
            </a:r>
            <a:r>
              <a:rPr lang="en">
                <a:solidFill>
                  <a:schemeClr val="accent1"/>
                </a:solidFill>
                <a:latin typeface="Roboto Mono"/>
                <a:ea typeface="Roboto Mono"/>
                <a:cs typeface="Roboto Mono"/>
                <a:sym typeface="Roboto Mono"/>
              </a:rPr>
              <a:t>&lt;call&gt;</a:t>
            </a:r>
            <a:r>
              <a:rPr lang="en">
                <a:solidFill>
                  <a:schemeClr val="dk1"/>
                </a:solidFill>
              </a:rPr>
              <a:t> (illustrative names). Tool names, arguments, and content typically use </a:t>
            </a:r>
            <a:r>
              <a:rPr lang="en" b="1">
                <a:solidFill>
                  <a:schemeClr val="dk1"/>
                </a:solidFill>
              </a:rPr>
              <a:t>ordinary tokens</a:t>
            </a:r>
            <a:r>
              <a:rPr lang="en">
                <a:solidFill>
                  <a:schemeClr val="dk1"/>
                </a:solidFill>
              </a:rPr>
              <a:t>. The model learns the format during training, while external software executes tool calls.</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solidFill>
                <a:schemeClr val="dk1"/>
              </a:solidFill>
            </a:endParaRPr>
          </a:p>
        </p:txBody>
      </p:sp>
      <p:sp>
        <p:nvSpPr>
          <p:cNvPr id="230" name="Google Shape;230;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0"/>
          <p:cNvSpPr txBox="1"/>
          <p:nvPr/>
        </p:nvSpPr>
        <p:spPr>
          <a:xfrm>
            <a:off x="1956700" y="0"/>
            <a:ext cx="5376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Structuring Conversations with Special Tokens</a:t>
            </a:r>
            <a:endParaRPr sz="1800" b="1">
              <a:solidFill>
                <a:schemeClr val="dk1"/>
              </a:solidFill>
            </a:endParaRPr>
          </a:p>
        </p:txBody>
      </p:sp>
      <p:sp>
        <p:nvSpPr>
          <p:cNvPr id="236" name="Google Shape;236;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
        <p:nvSpPr>
          <p:cNvPr id="237" name="Google Shape;237;p30"/>
          <p:cNvSpPr txBox="1"/>
          <p:nvPr/>
        </p:nvSpPr>
        <p:spPr>
          <a:xfrm>
            <a:off x="203858" y="3659540"/>
            <a:ext cx="8817300" cy="12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dirty="0">
                <a:solidFill>
                  <a:schemeClr val="dk1"/>
                </a:solidFill>
              </a:rPr>
              <a:t>Special tokens mark the boundaries between messages and separate message headers from their content.</a:t>
            </a:r>
            <a:endParaRPr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b="1" dirty="0">
                <a:solidFill>
                  <a:schemeClr val="dk1"/>
                </a:solidFill>
                <a:latin typeface="Roboto Mono"/>
                <a:ea typeface="Roboto Mono"/>
                <a:cs typeface="Roboto Mono"/>
                <a:sym typeface="Roboto Mono"/>
              </a:rPr>
              <a:t>&lt;|im_start|&gt;</a:t>
            </a:r>
            <a:r>
              <a:rPr lang="en" dirty="0">
                <a:solidFill>
                  <a:schemeClr val="dk1"/>
                </a:solidFill>
              </a:rPr>
              <a:t> marks the beginning of a message.</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Roboto Mono"/>
                <a:ea typeface="Roboto Mono"/>
                <a:cs typeface="Roboto Mono"/>
                <a:sym typeface="Roboto Mono"/>
              </a:rPr>
              <a:t>&lt;|im_sep|&gt;</a:t>
            </a:r>
            <a:r>
              <a:rPr lang="en" dirty="0">
                <a:solidFill>
                  <a:schemeClr val="dk1"/>
                </a:solidFill>
              </a:rPr>
              <a:t> separates the message header from its content.</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Roboto Mono"/>
                <a:ea typeface="Roboto Mono"/>
                <a:cs typeface="Roboto Mono"/>
                <a:sym typeface="Roboto Mono"/>
              </a:rPr>
              <a:t>&lt;|im_end|&gt;</a:t>
            </a:r>
            <a:r>
              <a:rPr lang="en" dirty="0">
                <a:solidFill>
                  <a:schemeClr val="dk1"/>
                </a:solidFill>
              </a:rPr>
              <a:t> marks the end of a message.</a:t>
            </a:r>
            <a:endParaRPr dirty="0">
              <a:solidFill>
                <a:schemeClr val="dk1"/>
              </a:solidFill>
            </a:endParaRPr>
          </a:p>
        </p:txBody>
      </p:sp>
      <p:pic>
        <p:nvPicPr>
          <p:cNvPr id="238" name="Google Shape;238;p30"/>
          <p:cNvPicPr preferRelativeResize="0"/>
          <p:nvPr/>
        </p:nvPicPr>
        <p:blipFill>
          <a:blip r:embed="rId3">
            <a:alphaModFix/>
          </a:blip>
          <a:stretch>
            <a:fillRect/>
          </a:stretch>
        </p:blipFill>
        <p:spPr>
          <a:xfrm>
            <a:off x="809813" y="404975"/>
            <a:ext cx="7524384" cy="3422126"/>
          </a:xfrm>
          <a:prstGeom prst="rect">
            <a:avLst/>
          </a:prstGeom>
          <a:noFill/>
          <a:ln>
            <a:noFill/>
          </a:ln>
        </p:spPr>
      </p:pic>
      <p:sp>
        <p:nvSpPr>
          <p:cNvPr id="239" name="Google Shape;239;p30"/>
          <p:cNvSpPr txBox="1"/>
          <p:nvPr/>
        </p:nvSpPr>
        <p:spPr>
          <a:xfrm>
            <a:off x="1110201" y="2186440"/>
            <a:ext cx="3000000" cy="104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000" dirty="0">
                <a:solidFill>
                  <a:srgbClr val="FF0000"/>
                </a:solidFill>
              </a:rPr>
              <a:t>Role labels such as </a:t>
            </a:r>
            <a:r>
              <a:rPr lang="en" sz="1000" b="1" dirty="0">
                <a:solidFill>
                  <a:srgbClr val="FF0000"/>
                </a:solidFill>
              </a:rPr>
              <a:t>system</a:t>
            </a:r>
            <a:r>
              <a:rPr lang="en" sz="1000" dirty="0">
                <a:solidFill>
                  <a:srgbClr val="FF0000"/>
                </a:solidFill>
              </a:rPr>
              <a:t>, </a:t>
            </a:r>
            <a:r>
              <a:rPr lang="en" sz="1000" b="1" dirty="0">
                <a:solidFill>
                  <a:srgbClr val="FF0000"/>
                </a:solidFill>
              </a:rPr>
              <a:t>user</a:t>
            </a:r>
            <a:r>
              <a:rPr lang="en" sz="1000" dirty="0">
                <a:solidFill>
                  <a:srgbClr val="FF0000"/>
                </a:solidFill>
              </a:rPr>
              <a:t>, and </a:t>
            </a:r>
            <a:r>
              <a:rPr lang="en" sz="1000" b="1" dirty="0">
                <a:solidFill>
                  <a:srgbClr val="FF0000"/>
                </a:solidFill>
              </a:rPr>
              <a:t>assistant</a:t>
            </a:r>
            <a:r>
              <a:rPr lang="en" sz="1000" dirty="0">
                <a:solidFill>
                  <a:srgbClr val="FF0000"/>
                </a:solidFill>
              </a:rPr>
              <a:t> identify who is speaking. In this example, these labels are ordinary text enclosed by special tokens, so the model learns to interpret them as roles when they appear in that position.</a:t>
            </a:r>
            <a:endParaRPr sz="10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1"/>
          <p:cNvSpPr txBox="1"/>
          <p:nvPr/>
        </p:nvSpPr>
        <p:spPr>
          <a:xfrm>
            <a:off x="3651550" y="0"/>
            <a:ext cx="25092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The tiktoken Library </a:t>
            </a:r>
            <a:endParaRPr sz="1800" b="1">
              <a:solidFill>
                <a:schemeClr val="dk1"/>
              </a:solidFill>
            </a:endParaRPr>
          </a:p>
        </p:txBody>
      </p:sp>
      <p:pic>
        <p:nvPicPr>
          <p:cNvPr id="245" name="Google Shape;245;p31"/>
          <p:cNvPicPr preferRelativeResize="0"/>
          <p:nvPr/>
        </p:nvPicPr>
        <p:blipFill>
          <a:blip r:embed="rId3">
            <a:alphaModFix/>
          </a:blip>
          <a:stretch>
            <a:fillRect/>
          </a:stretch>
        </p:blipFill>
        <p:spPr>
          <a:xfrm>
            <a:off x="4673859" y="869683"/>
            <a:ext cx="4341799" cy="2812283"/>
          </a:xfrm>
          <a:prstGeom prst="rect">
            <a:avLst/>
          </a:prstGeom>
          <a:noFill/>
          <a:ln>
            <a:noFill/>
          </a:ln>
        </p:spPr>
      </p:pic>
      <p:sp>
        <p:nvSpPr>
          <p:cNvPr id="246" name="Google Shape;246;p31"/>
          <p:cNvSpPr txBox="1"/>
          <p:nvPr/>
        </p:nvSpPr>
        <p:spPr>
          <a:xfrm>
            <a:off x="2991325" y="4027925"/>
            <a:ext cx="289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https://github.com/openai/tiktoken</a:t>
            </a:r>
            <a:endParaRPr/>
          </a:p>
        </p:txBody>
      </p:sp>
      <p:pic>
        <p:nvPicPr>
          <p:cNvPr id="247" name="Google Shape;247;p31"/>
          <p:cNvPicPr preferRelativeResize="0"/>
          <p:nvPr/>
        </p:nvPicPr>
        <p:blipFill>
          <a:blip r:embed="rId5">
            <a:alphaModFix/>
          </a:blip>
          <a:stretch>
            <a:fillRect/>
          </a:stretch>
        </p:blipFill>
        <p:spPr>
          <a:xfrm>
            <a:off x="117346" y="869692"/>
            <a:ext cx="4475699" cy="2812276"/>
          </a:xfrm>
          <a:prstGeom prst="rect">
            <a:avLst/>
          </a:prstGeom>
          <a:noFill/>
          <a:ln>
            <a:noFill/>
          </a:ln>
        </p:spPr>
      </p:pic>
      <p:sp>
        <p:nvSpPr>
          <p:cNvPr id="248" name="Google Shape;24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p:nvPr/>
        </p:nvSpPr>
        <p:spPr>
          <a:xfrm>
            <a:off x="2990100" y="0"/>
            <a:ext cx="22959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Extending tiktoken</a:t>
            </a:r>
            <a:endParaRPr sz="1800" b="1">
              <a:solidFill>
                <a:schemeClr val="dk1"/>
              </a:solidFill>
            </a:endParaRPr>
          </a:p>
        </p:txBody>
      </p:sp>
      <p:pic>
        <p:nvPicPr>
          <p:cNvPr id="254" name="Google Shape;254;p32"/>
          <p:cNvPicPr preferRelativeResize="0"/>
          <p:nvPr/>
        </p:nvPicPr>
        <p:blipFill>
          <a:blip r:embed="rId3">
            <a:alphaModFix/>
          </a:blip>
          <a:stretch>
            <a:fillRect/>
          </a:stretch>
        </p:blipFill>
        <p:spPr>
          <a:xfrm>
            <a:off x="981600" y="517138"/>
            <a:ext cx="6963124" cy="4181524"/>
          </a:xfrm>
          <a:prstGeom prst="rect">
            <a:avLst/>
          </a:prstGeom>
          <a:noFill/>
          <a:ln>
            <a:noFill/>
          </a:ln>
        </p:spPr>
      </p:pic>
      <p:sp>
        <p:nvSpPr>
          <p:cNvPr id="255" name="Google Shape;255;p32"/>
          <p:cNvSpPr txBox="1"/>
          <p:nvPr/>
        </p:nvSpPr>
        <p:spPr>
          <a:xfrm>
            <a:off x="2245275" y="4743300"/>
            <a:ext cx="495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rPr>
              <a:t>https://github.com/openai/tiktoken#extending-tiktoken</a:t>
            </a:r>
            <a:endParaRPr b="1">
              <a:solidFill>
                <a:schemeClr val="dk1"/>
              </a:solidFill>
            </a:endParaRPr>
          </a:p>
        </p:txBody>
      </p:sp>
      <p:sp>
        <p:nvSpPr>
          <p:cNvPr id="256" name="Google Shape;256;p32"/>
          <p:cNvSpPr/>
          <p:nvPr/>
        </p:nvSpPr>
        <p:spPr>
          <a:xfrm>
            <a:off x="3785350" y="3654175"/>
            <a:ext cx="69000" cy="681300"/>
          </a:xfrm>
          <a:prstGeom prst="righ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257;p32"/>
          <p:cNvSpPr txBox="1"/>
          <p:nvPr/>
        </p:nvSpPr>
        <p:spPr>
          <a:xfrm>
            <a:off x="3720125" y="3469326"/>
            <a:ext cx="2517600" cy="68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a:solidFill>
                  <a:srgbClr val="FF0000"/>
                </a:solidFill>
              </a:rPr>
              <a:t>You can add more special tokens with a new ID afterwards.</a:t>
            </a:r>
            <a:endParaRPr sz="1700">
              <a:solidFill>
                <a:srgbClr val="FF0000"/>
              </a:solidFill>
            </a:endParaRPr>
          </a:p>
        </p:txBody>
      </p:sp>
      <p:sp>
        <p:nvSpPr>
          <p:cNvPr id="258" name="Google Shape;258;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3"/>
          <p:cNvSpPr txBox="1"/>
          <p:nvPr/>
        </p:nvSpPr>
        <p:spPr>
          <a:xfrm>
            <a:off x="2170339" y="0"/>
            <a:ext cx="4803300" cy="47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800" b="1">
                <a:solidFill>
                  <a:schemeClr val="dk1"/>
                </a:solidFill>
              </a:rPr>
              <a:t>Adding New Tokens to a Pretrained Model</a:t>
            </a:r>
            <a:endParaRPr sz="1800" b="1">
              <a:solidFill>
                <a:schemeClr val="dk1"/>
              </a:solidFill>
            </a:endParaRPr>
          </a:p>
        </p:txBody>
      </p:sp>
      <p:sp>
        <p:nvSpPr>
          <p:cNvPr id="264" name="Google Shape;264;p33"/>
          <p:cNvSpPr txBox="1"/>
          <p:nvPr/>
        </p:nvSpPr>
        <p:spPr>
          <a:xfrm>
            <a:off x="378900" y="1290804"/>
            <a:ext cx="8386200" cy="2247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1000"/>
              </a:spcBef>
              <a:spcAft>
                <a:spcPts val="0"/>
              </a:spcAft>
              <a:buClr>
                <a:schemeClr val="dk1"/>
              </a:buClr>
              <a:buSzPts val="1800"/>
              <a:buAutoNum type="arabicPeriod"/>
            </a:pPr>
            <a:r>
              <a:rPr lang="en" sz="1800">
                <a:solidFill>
                  <a:schemeClr val="dk1"/>
                </a:solidFill>
              </a:rPr>
              <a:t>Add the new token to the tokenizer.</a:t>
            </a:r>
            <a:endParaRPr sz="1800">
              <a:solidFill>
                <a:schemeClr val="dk1"/>
              </a:solidFill>
            </a:endParaRPr>
          </a:p>
          <a:p>
            <a:pPr marL="457200" lvl="0" indent="-342900" algn="l" rtl="0">
              <a:lnSpc>
                <a:spcPct val="150000"/>
              </a:lnSpc>
              <a:spcBef>
                <a:spcPts val="1000"/>
              </a:spcBef>
              <a:spcAft>
                <a:spcPts val="0"/>
              </a:spcAft>
              <a:buClr>
                <a:schemeClr val="dk1"/>
              </a:buClr>
              <a:buSzPts val="1800"/>
              <a:buAutoNum type="arabicPeriod"/>
            </a:pPr>
            <a:r>
              <a:rPr lang="en" sz="1800">
                <a:solidFill>
                  <a:schemeClr val="dk1"/>
                </a:solidFill>
              </a:rPr>
              <a:t>Expand the input embedding matrix and output vocabulary projection.</a:t>
            </a:r>
            <a:endParaRPr sz="1800">
              <a:solidFill>
                <a:schemeClr val="dk1"/>
              </a:solidFill>
            </a:endParaRPr>
          </a:p>
          <a:p>
            <a:pPr marL="457200" lvl="0" indent="-342900" algn="l" rtl="0">
              <a:lnSpc>
                <a:spcPct val="150000"/>
              </a:lnSpc>
              <a:spcBef>
                <a:spcPts val="1000"/>
              </a:spcBef>
              <a:spcAft>
                <a:spcPts val="0"/>
              </a:spcAft>
              <a:buClr>
                <a:schemeClr val="dk1"/>
              </a:buClr>
              <a:buSzPts val="1800"/>
              <a:buAutoNum type="arabicPeriod"/>
            </a:pPr>
            <a:r>
              <a:rPr lang="en" sz="1800">
                <a:solidFill>
                  <a:schemeClr val="dk1"/>
                </a:solidFill>
              </a:rPr>
              <a:t>Initialize the new parameters.</a:t>
            </a:r>
            <a:endParaRPr sz="1800">
              <a:solidFill>
                <a:schemeClr val="dk1"/>
              </a:solidFill>
            </a:endParaRPr>
          </a:p>
          <a:p>
            <a:pPr marL="457200" lvl="0" indent="-342900" algn="l" rtl="0">
              <a:lnSpc>
                <a:spcPct val="150000"/>
              </a:lnSpc>
              <a:spcBef>
                <a:spcPts val="1000"/>
              </a:spcBef>
              <a:spcAft>
                <a:spcPts val="0"/>
              </a:spcAft>
              <a:buClr>
                <a:schemeClr val="dk1"/>
              </a:buClr>
              <a:buSzPts val="1800"/>
              <a:buAutoNum type="arabicPeriod"/>
            </a:pPr>
            <a:r>
              <a:rPr lang="en" sz="1800">
                <a:solidFill>
                  <a:schemeClr val="dk1"/>
                </a:solidFill>
              </a:rPr>
              <a:t>Fine-tune on examples containing the new token.</a:t>
            </a:r>
            <a:endParaRPr sz="1800">
              <a:solidFill>
                <a:schemeClr val="dk1"/>
              </a:solidFill>
            </a:endParaRPr>
          </a:p>
        </p:txBody>
      </p:sp>
      <p:sp>
        <p:nvSpPr>
          <p:cNvPr id="265" name="Google Shape;265;p33"/>
          <p:cNvSpPr txBox="1"/>
          <p:nvPr/>
        </p:nvSpPr>
        <p:spPr>
          <a:xfrm>
            <a:off x="224550" y="3781013"/>
            <a:ext cx="8694900" cy="639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1500">
                <a:solidFill>
                  <a:schemeClr val="accent1"/>
                </a:solidFill>
              </a:rPr>
              <a:t>Adding special tokens can support adapting a </a:t>
            </a:r>
            <a:r>
              <a:rPr lang="en" sz="1500" b="1">
                <a:solidFill>
                  <a:schemeClr val="accent1"/>
                </a:solidFill>
              </a:rPr>
              <a:t>base model for chat</a:t>
            </a:r>
            <a:r>
              <a:rPr lang="en" sz="1500">
                <a:solidFill>
                  <a:schemeClr val="accent1"/>
                </a:solidFill>
              </a:rPr>
              <a:t> or introducing </a:t>
            </a:r>
            <a:r>
              <a:rPr lang="en" sz="1500" b="1">
                <a:solidFill>
                  <a:schemeClr val="accent1"/>
                </a:solidFill>
              </a:rPr>
              <a:t>tool-use formats</a:t>
            </a:r>
            <a:r>
              <a:rPr lang="en" sz="1500">
                <a:solidFill>
                  <a:schemeClr val="accent1"/>
                </a:solidFill>
              </a:rPr>
              <a:t> in chat and coding models. </a:t>
            </a:r>
            <a:r>
              <a:rPr lang="en" sz="1500" b="1">
                <a:solidFill>
                  <a:schemeClr val="accent1"/>
                </a:solidFill>
              </a:rPr>
              <a:t>Fine-tuning</a:t>
            </a:r>
            <a:r>
              <a:rPr lang="en" sz="1500">
                <a:solidFill>
                  <a:schemeClr val="accent1"/>
                </a:solidFill>
              </a:rPr>
              <a:t> teaches the model to interpret and generate these formats.</a:t>
            </a:r>
            <a:endParaRPr sz="1500">
              <a:solidFill>
                <a:schemeClr val="accent1"/>
              </a:solidFill>
            </a:endParaRPr>
          </a:p>
        </p:txBody>
      </p:sp>
      <p:sp>
        <p:nvSpPr>
          <p:cNvPr id="266" name="Google Shape;266;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4"/>
          <p:cNvSpPr txBox="1"/>
          <p:nvPr/>
        </p:nvSpPr>
        <p:spPr>
          <a:xfrm>
            <a:off x="3354850" y="0"/>
            <a:ext cx="38559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The SentencePiece Library</a:t>
            </a:r>
            <a:endParaRPr sz="1800" b="1">
              <a:solidFill>
                <a:schemeClr val="dk1"/>
              </a:solidFill>
            </a:endParaRPr>
          </a:p>
        </p:txBody>
      </p:sp>
      <p:pic>
        <p:nvPicPr>
          <p:cNvPr id="272" name="Google Shape;272;p34"/>
          <p:cNvPicPr preferRelativeResize="0"/>
          <p:nvPr/>
        </p:nvPicPr>
        <p:blipFill>
          <a:blip r:embed="rId3">
            <a:alphaModFix/>
          </a:blip>
          <a:stretch>
            <a:fillRect/>
          </a:stretch>
        </p:blipFill>
        <p:spPr>
          <a:xfrm>
            <a:off x="163575" y="472500"/>
            <a:ext cx="4214748" cy="4366199"/>
          </a:xfrm>
          <a:prstGeom prst="rect">
            <a:avLst/>
          </a:prstGeom>
          <a:noFill/>
          <a:ln>
            <a:noFill/>
          </a:ln>
        </p:spPr>
      </p:pic>
      <p:sp>
        <p:nvSpPr>
          <p:cNvPr id="273" name="Google Shape;273;p34"/>
          <p:cNvSpPr txBox="1"/>
          <p:nvPr/>
        </p:nvSpPr>
        <p:spPr>
          <a:xfrm>
            <a:off x="545600" y="4743300"/>
            <a:ext cx="3605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https://github.com/google/sentencepiece</a:t>
            </a:r>
            <a:endParaRPr/>
          </a:p>
        </p:txBody>
      </p:sp>
      <p:sp>
        <p:nvSpPr>
          <p:cNvPr id="274" name="Google Shape;274;p34"/>
          <p:cNvSpPr txBox="1"/>
          <p:nvPr/>
        </p:nvSpPr>
        <p:spPr>
          <a:xfrm>
            <a:off x="4476550" y="863075"/>
            <a:ext cx="4542300" cy="3800100"/>
          </a:xfrm>
          <a:prstGeom prst="rect">
            <a:avLst/>
          </a:prstGeom>
          <a:noFill/>
          <a:ln>
            <a:noFill/>
          </a:ln>
        </p:spPr>
        <p:txBody>
          <a:bodyPr spcFirstLastPara="1" wrap="square" lIns="91425" tIns="91425" rIns="91425" bIns="91425" anchor="t" anchorCtr="0">
            <a:noAutofit/>
          </a:bodyPr>
          <a:lstStyle/>
          <a:p>
            <a:pPr marL="457200" lvl="0" indent="-330200" algn="l" rtl="0">
              <a:lnSpc>
                <a:spcPct val="100000"/>
              </a:lnSpc>
              <a:spcBef>
                <a:spcPts val="1200"/>
              </a:spcBef>
              <a:spcAft>
                <a:spcPts val="0"/>
              </a:spcAft>
              <a:buClr>
                <a:schemeClr val="dk1"/>
              </a:buClr>
              <a:buSzPts val="1600"/>
              <a:buChar char="➢"/>
            </a:pPr>
            <a:r>
              <a:rPr lang="en" sz="1600" b="1">
                <a:solidFill>
                  <a:schemeClr val="dk1"/>
                </a:solidFill>
              </a:rPr>
              <a:t>SentencePiece</a:t>
            </a:r>
            <a:r>
              <a:rPr lang="en" sz="1600">
                <a:solidFill>
                  <a:schemeClr val="dk1"/>
                </a:solidFill>
              </a:rPr>
              <a:t> supports both </a:t>
            </a:r>
            <a:r>
              <a:rPr lang="en" sz="1600" b="1">
                <a:solidFill>
                  <a:schemeClr val="dk1"/>
                </a:solidFill>
              </a:rPr>
              <a:t>tokenizer training and inference</a:t>
            </a:r>
            <a:r>
              <a:rPr lang="en" sz="1600">
                <a:solidFill>
                  <a:schemeClr val="dk1"/>
                </a:solidFill>
              </a:rPr>
              <a:t>, whereas </a:t>
            </a:r>
            <a:r>
              <a:rPr lang="en" sz="1600" b="1">
                <a:solidFill>
                  <a:schemeClr val="dk1"/>
                </a:solidFill>
              </a:rPr>
              <a:t>tiktoken</a:t>
            </a:r>
            <a:r>
              <a:rPr lang="en" sz="1600">
                <a:solidFill>
                  <a:schemeClr val="dk1"/>
                </a:solidFill>
              </a:rPr>
              <a:t> focuses primarily on </a:t>
            </a:r>
            <a:r>
              <a:rPr lang="en" sz="1600" b="1">
                <a:solidFill>
                  <a:schemeClr val="dk1"/>
                </a:solidFill>
              </a:rPr>
              <a:t>inference with an already trained tokenizer</a:t>
            </a:r>
            <a:r>
              <a:rPr lang="en" sz="1600">
                <a:solidFill>
                  <a:schemeClr val="dk1"/>
                </a:solidFill>
              </a:rPr>
              <a:t>.</a:t>
            </a:r>
            <a:endParaRPr sz="1600">
              <a:solidFill>
                <a:schemeClr val="dk1"/>
              </a:solidFill>
            </a:endParaRPr>
          </a:p>
          <a:p>
            <a:pPr marL="457200" lvl="0" indent="0" algn="l" rtl="0">
              <a:lnSpc>
                <a:spcPct val="100000"/>
              </a:lnSpc>
              <a:spcBef>
                <a:spcPts val="1200"/>
              </a:spcBef>
              <a:spcAft>
                <a:spcPts val="0"/>
              </a:spcAft>
              <a:buNone/>
            </a:pPr>
            <a:endParaRPr sz="1600">
              <a:solidFill>
                <a:schemeClr val="dk1"/>
              </a:solidFill>
            </a:endParaRPr>
          </a:p>
          <a:p>
            <a:pPr marL="457200" lvl="0" indent="-330200" algn="l" rtl="0">
              <a:lnSpc>
                <a:spcPct val="100000"/>
              </a:lnSpc>
              <a:spcBef>
                <a:spcPts val="1200"/>
              </a:spcBef>
              <a:spcAft>
                <a:spcPts val="0"/>
              </a:spcAft>
              <a:buClr>
                <a:schemeClr val="dk1"/>
              </a:buClr>
              <a:buSzPts val="1600"/>
              <a:buChar char="➢"/>
            </a:pPr>
            <a:r>
              <a:rPr lang="en" sz="1600" b="1">
                <a:solidFill>
                  <a:schemeClr val="dk1"/>
                </a:solidFill>
              </a:rPr>
              <a:t>SentencePiece supports multiple algorithms</a:t>
            </a:r>
            <a:r>
              <a:rPr lang="en" sz="1600">
                <a:solidFill>
                  <a:schemeClr val="dk1"/>
                </a:solidFill>
              </a:rPr>
              <a:t>, including </a:t>
            </a:r>
            <a:r>
              <a:rPr lang="en" sz="1600" b="1">
                <a:solidFill>
                  <a:schemeClr val="dk1"/>
                </a:solidFill>
              </a:rPr>
              <a:t>BPE and Unigram</a:t>
            </a:r>
            <a:r>
              <a:rPr lang="en" sz="1600">
                <a:solidFill>
                  <a:schemeClr val="dk1"/>
                </a:solidFill>
              </a:rPr>
              <a:t>, whereas </a:t>
            </a:r>
            <a:r>
              <a:rPr lang="en" sz="1600" b="1">
                <a:solidFill>
                  <a:schemeClr val="dk1"/>
                </a:solidFill>
              </a:rPr>
              <a:t>tiktoken focuses on BPE</a:t>
            </a:r>
            <a:r>
              <a:rPr lang="en" sz="1600">
                <a:solidFill>
                  <a:schemeClr val="dk1"/>
                </a:solidFill>
              </a:rPr>
              <a:t>.</a:t>
            </a:r>
            <a:endParaRPr sz="1600">
              <a:solidFill>
                <a:schemeClr val="dk1"/>
              </a:solidFill>
            </a:endParaRPr>
          </a:p>
          <a:p>
            <a:pPr marL="457200" lvl="0" indent="0" algn="l" rtl="0">
              <a:lnSpc>
                <a:spcPct val="100000"/>
              </a:lnSpc>
              <a:spcBef>
                <a:spcPts val="1200"/>
              </a:spcBef>
              <a:spcAft>
                <a:spcPts val="0"/>
              </a:spcAft>
              <a:buNone/>
            </a:pPr>
            <a:endParaRPr sz="1600">
              <a:solidFill>
                <a:schemeClr val="dk1"/>
              </a:solidFill>
            </a:endParaRPr>
          </a:p>
          <a:p>
            <a:pPr marL="457200" lvl="0" indent="-330200" algn="l" rtl="0">
              <a:lnSpc>
                <a:spcPct val="100000"/>
              </a:lnSpc>
              <a:spcBef>
                <a:spcPts val="1200"/>
              </a:spcBef>
              <a:spcAft>
                <a:spcPts val="0"/>
              </a:spcAft>
              <a:buClr>
                <a:schemeClr val="dk1"/>
              </a:buClr>
              <a:buSzPts val="1600"/>
              <a:buChar char="➢"/>
            </a:pPr>
            <a:r>
              <a:rPr lang="en" sz="1600" b="1">
                <a:solidFill>
                  <a:schemeClr val="dk1"/>
                </a:solidFill>
              </a:rPr>
              <a:t>SentencePiece</a:t>
            </a:r>
            <a:r>
              <a:rPr lang="en" sz="1600">
                <a:solidFill>
                  <a:schemeClr val="dk1"/>
                </a:solidFill>
              </a:rPr>
              <a:t> is used by models such as </a:t>
            </a:r>
            <a:r>
              <a:rPr lang="en" sz="1600" b="1">
                <a:solidFill>
                  <a:schemeClr val="dk1"/>
                </a:solidFill>
              </a:rPr>
              <a:t>Llama 2</a:t>
            </a:r>
            <a:r>
              <a:rPr lang="en" sz="1600">
                <a:solidFill>
                  <a:schemeClr val="dk1"/>
                </a:solidFill>
              </a:rPr>
              <a:t>, </a:t>
            </a:r>
            <a:r>
              <a:rPr lang="en" sz="1600" b="1">
                <a:solidFill>
                  <a:schemeClr val="dk1"/>
                </a:solidFill>
              </a:rPr>
              <a:t>Mistral 7B</a:t>
            </a:r>
            <a:r>
              <a:rPr lang="en" sz="1600">
                <a:solidFill>
                  <a:schemeClr val="dk1"/>
                </a:solidFill>
              </a:rPr>
              <a:t>, and </a:t>
            </a:r>
            <a:r>
              <a:rPr lang="en" sz="1600" b="1">
                <a:solidFill>
                  <a:schemeClr val="dk1"/>
                </a:solidFill>
              </a:rPr>
              <a:t>Mixtral 8×7B</a:t>
            </a:r>
            <a:r>
              <a:rPr lang="en" sz="1600">
                <a:solidFill>
                  <a:schemeClr val="dk1"/>
                </a:solidFill>
              </a:rPr>
              <a:t>. (Llama 3 moved from SentencePiece to a tiktoken-based tokenizer)</a:t>
            </a:r>
            <a:endParaRPr sz="1600" b="1">
              <a:solidFill>
                <a:schemeClr val="dk1"/>
              </a:solidFill>
            </a:endParaRPr>
          </a:p>
        </p:txBody>
      </p:sp>
      <p:sp>
        <p:nvSpPr>
          <p:cNvPr id="275" name="Google Shape;27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5"/>
          <p:cNvSpPr txBox="1"/>
          <p:nvPr/>
        </p:nvSpPr>
        <p:spPr>
          <a:xfrm>
            <a:off x="2696140" y="0"/>
            <a:ext cx="35571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Token Types in SentencePiece </a:t>
            </a:r>
            <a:endParaRPr sz="1800" b="1">
              <a:solidFill>
                <a:schemeClr val="dk1"/>
              </a:solidFill>
            </a:endParaRPr>
          </a:p>
        </p:txBody>
      </p:sp>
      <p:sp>
        <p:nvSpPr>
          <p:cNvPr id="281" name="Google Shape;281;p35"/>
          <p:cNvSpPr txBox="1"/>
          <p:nvPr/>
        </p:nvSpPr>
        <p:spPr>
          <a:xfrm>
            <a:off x="30150" y="1045225"/>
            <a:ext cx="9083700" cy="35412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15000"/>
              </a:lnSpc>
              <a:spcBef>
                <a:spcPts val="1000"/>
              </a:spcBef>
              <a:spcAft>
                <a:spcPts val="0"/>
              </a:spcAft>
              <a:buClr>
                <a:schemeClr val="dk1"/>
              </a:buClr>
              <a:buSzPts val="1600"/>
              <a:buAutoNum type="arabicPeriod"/>
            </a:pPr>
            <a:r>
              <a:rPr lang="en" sz="1600" b="1">
                <a:solidFill>
                  <a:schemeClr val="dk1"/>
                </a:solidFill>
              </a:rPr>
              <a:t>Special Tokens</a:t>
            </a:r>
            <a:r>
              <a:rPr lang="en" sz="1600">
                <a:solidFill>
                  <a:schemeClr val="dk1"/>
                </a:solidFill>
              </a:rPr>
              <a:t> → Reserved tokens with predefined functions, e.g. </a:t>
            </a:r>
            <a:r>
              <a:rPr lang="en" sz="1600" b="1">
                <a:solidFill>
                  <a:schemeClr val="dk1"/>
                </a:solidFill>
              </a:rPr>
              <a:t>&lt;unk&gt; for unknown tokens</a:t>
            </a:r>
            <a:r>
              <a:rPr lang="en" sz="1600">
                <a:solidFill>
                  <a:schemeClr val="dk1"/>
                </a:solidFill>
              </a:rPr>
              <a:t>, &lt;s&gt; for start of sentence, &lt;/s&gt; for end of sentence, and optionally &lt;pad&gt; for padding.</a:t>
            </a:r>
            <a:endParaRPr sz="1600">
              <a:solidFill>
                <a:schemeClr val="dk1"/>
              </a:solidFill>
            </a:endParaRPr>
          </a:p>
          <a:p>
            <a:pPr marL="457200" lvl="0" indent="-330200" algn="l" rtl="0">
              <a:lnSpc>
                <a:spcPct val="115000"/>
              </a:lnSpc>
              <a:spcBef>
                <a:spcPts val="1000"/>
              </a:spcBef>
              <a:spcAft>
                <a:spcPts val="0"/>
              </a:spcAft>
              <a:buClr>
                <a:schemeClr val="dk1"/>
              </a:buClr>
              <a:buSzPts val="1600"/>
              <a:buAutoNum type="arabicPeriod"/>
            </a:pPr>
            <a:r>
              <a:rPr lang="en" sz="1600" b="1">
                <a:solidFill>
                  <a:schemeClr val="dk1"/>
                </a:solidFill>
              </a:rPr>
              <a:t>Byte Tokens</a:t>
            </a:r>
            <a:r>
              <a:rPr lang="en" sz="1600">
                <a:solidFill>
                  <a:schemeClr val="dk1"/>
                </a:solidFill>
              </a:rPr>
              <a:t> → Tokens representing individual bytes, used as a fallback for characters not covered by the normal vocabulary when </a:t>
            </a:r>
            <a:r>
              <a:rPr lang="en" sz="1600" b="1">
                <a:solidFill>
                  <a:schemeClr val="dk1"/>
                </a:solidFill>
              </a:rPr>
              <a:t>byte_fallback = True</a:t>
            </a:r>
            <a:r>
              <a:rPr lang="en" sz="1600">
                <a:solidFill>
                  <a:schemeClr val="dk1"/>
                </a:solidFill>
              </a:rPr>
              <a:t> </a:t>
            </a:r>
            <a:endParaRPr sz="1600">
              <a:solidFill>
                <a:schemeClr val="dk1"/>
              </a:solidFill>
            </a:endParaRPr>
          </a:p>
          <a:p>
            <a:pPr marL="457200" lvl="0" indent="-330200" algn="l" rtl="0">
              <a:lnSpc>
                <a:spcPct val="115000"/>
              </a:lnSpc>
              <a:spcBef>
                <a:spcPts val="1000"/>
              </a:spcBef>
              <a:spcAft>
                <a:spcPts val="0"/>
              </a:spcAft>
              <a:buClr>
                <a:schemeClr val="dk1"/>
              </a:buClr>
              <a:buSzPts val="1600"/>
              <a:buAutoNum type="arabicPeriod"/>
            </a:pPr>
            <a:r>
              <a:rPr lang="en" sz="1600" b="1">
                <a:solidFill>
                  <a:schemeClr val="dk1"/>
                </a:solidFill>
              </a:rPr>
              <a:t>Merge Tokens</a:t>
            </a:r>
            <a:r>
              <a:rPr lang="en" sz="1600">
                <a:solidFill>
                  <a:schemeClr val="dk1"/>
                </a:solidFill>
              </a:rPr>
              <a:t> → </a:t>
            </a:r>
            <a:r>
              <a:rPr lang="en" sz="1600" b="1">
                <a:solidFill>
                  <a:schemeClr val="dk1"/>
                </a:solidFill>
              </a:rPr>
              <a:t>Subword tokens</a:t>
            </a:r>
            <a:r>
              <a:rPr lang="en" sz="1600">
                <a:solidFill>
                  <a:schemeClr val="dk1"/>
                </a:solidFill>
              </a:rPr>
              <a:t> learned by repeatedly </a:t>
            </a:r>
            <a:r>
              <a:rPr lang="en" sz="1600" b="1">
                <a:solidFill>
                  <a:schemeClr val="dk1"/>
                </a:solidFill>
              </a:rPr>
              <a:t>merging </a:t>
            </a:r>
            <a:r>
              <a:rPr lang="en" sz="1600">
                <a:solidFill>
                  <a:schemeClr val="dk1"/>
                </a:solidFill>
              </a:rPr>
              <a:t>frequently occurring neighboring symbols during BPE training. </a:t>
            </a:r>
            <a:endParaRPr sz="1600">
              <a:solidFill>
                <a:schemeClr val="dk1"/>
              </a:solidFill>
            </a:endParaRPr>
          </a:p>
          <a:p>
            <a:pPr marL="457200" lvl="0" indent="-330200" algn="l" rtl="0">
              <a:lnSpc>
                <a:spcPct val="115000"/>
              </a:lnSpc>
              <a:spcBef>
                <a:spcPts val="1000"/>
              </a:spcBef>
              <a:spcAft>
                <a:spcPts val="0"/>
              </a:spcAft>
              <a:buClr>
                <a:schemeClr val="dk1"/>
              </a:buClr>
              <a:buSzPts val="1600"/>
              <a:buAutoNum type="arabicPeriod"/>
            </a:pPr>
            <a:r>
              <a:rPr lang="en" sz="1600" b="1">
                <a:solidFill>
                  <a:schemeClr val="dk1"/>
                </a:solidFill>
              </a:rPr>
              <a:t>Individual Codepoint Tokens</a:t>
            </a:r>
            <a:r>
              <a:rPr lang="en" sz="1600">
                <a:solidFill>
                  <a:schemeClr val="dk1"/>
                </a:solidFill>
              </a:rPr>
              <a:t> → Tokens representing individual Unicode characters retained according to the specified character_coverage. If a codepoint is too rare to fall within the cumulative character coverage specified by character_coverage, it is not added to the vocabulary, e.g. </a:t>
            </a:r>
            <a:r>
              <a:rPr lang="en" sz="1600" b="1">
                <a:solidFill>
                  <a:schemeClr val="dk1"/>
                </a:solidFill>
              </a:rPr>
              <a:t>character_coverage = 0.995</a:t>
            </a:r>
            <a:r>
              <a:rPr lang="en" sz="1600">
                <a:solidFill>
                  <a:schemeClr val="dk1"/>
                </a:solidFill>
              </a:rPr>
              <a:t> </a:t>
            </a:r>
            <a:endParaRPr sz="1600">
              <a:solidFill>
                <a:schemeClr val="dk1"/>
              </a:solidFill>
            </a:endParaRPr>
          </a:p>
        </p:txBody>
      </p:sp>
      <p:sp>
        <p:nvSpPr>
          <p:cNvPr id="282" name="Google Shape;282;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36"/>
          <p:cNvPicPr preferRelativeResize="0"/>
          <p:nvPr/>
        </p:nvPicPr>
        <p:blipFill>
          <a:blip r:embed="rId3">
            <a:alphaModFix/>
          </a:blip>
          <a:stretch>
            <a:fillRect/>
          </a:stretch>
        </p:blipFill>
        <p:spPr>
          <a:xfrm>
            <a:off x="843477" y="439432"/>
            <a:ext cx="7525050" cy="3302750"/>
          </a:xfrm>
          <a:prstGeom prst="rect">
            <a:avLst/>
          </a:prstGeom>
          <a:noFill/>
          <a:ln>
            <a:noFill/>
          </a:ln>
        </p:spPr>
      </p:pic>
      <p:sp>
        <p:nvSpPr>
          <p:cNvPr id="288" name="Google Shape;288;p36"/>
          <p:cNvSpPr txBox="1"/>
          <p:nvPr/>
        </p:nvSpPr>
        <p:spPr>
          <a:xfrm>
            <a:off x="546701" y="3524275"/>
            <a:ext cx="78879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t>spm.</a:t>
            </a:r>
            <a:r>
              <a:rPr lang="en" sz="1300" b="1"/>
              <a:t>SentencePieceTrainer</a:t>
            </a:r>
            <a:r>
              <a:rPr lang="en" sz="1300"/>
              <a:t>.train(</a:t>
            </a:r>
            <a:endParaRPr sz="1300"/>
          </a:p>
          <a:p>
            <a:pPr marL="457200" lvl="0" indent="0" algn="l" rtl="0">
              <a:spcBef>
                <a:spcPts val="0"/>
              </a:spcBef>
              <a:spcAft>
                <a:spcPts val="0"/>
              </a:spcAft>
              <a:buNone/>
            </a:pPr>
            <a:r>
              <a:rPr lang="en" sz="1300"/>
              <a:t>    input="token_training_text.txt",</a:t>
            </a:r>
            <a:endParaRPr sz="1300"/>
          </a:p>
          <a:p>
            <a:pPr marL="457200" lvl="0" indent="0" algn="l" rtl="0">
              <a:spcBef>
                <a:spcPts val="0"/>
              </a:spcBef>
              <a:spcAft>
                <a:spcPts val="0"/>
              </a:spcAft>
              <a:buNone/>
            </a:pPr>
            <a:r>
              <a:rPr lang="en" sz="1300"/>
              <a:t>    model_prefix="model",</a:t>
            </a:r>
            <a:endParaRPr sz="1300"/>
          </a:p>
          <a:p>
            <a:pPr marL="457200" lvl="0" indent="0" algn="l" rtl="0">
              <a:spcBef>
                <a:spcPts val="0"/>
              </a:spcBef>
              <a:spcAft>
                <a:spcPts val="0"/>
              </a:spcAft>
              <a:buNone/>
            </a:pPr>
            <a:r>
              <a:rPr lang="en" sz="1300"/>
              <a:t>    vocab_size=8000,</a:t>
            </a:r>
            <a:endParaRPr sz="1300"/>
          </a:p>
          <a:p>
            <a:pPr marL="457200" lvl="0" indent="0" algn="l" rtl="0">
              <a:spcBef>
                <a:spcPts val="0"/>
              </a:spcBef>
              <a:spcAft>
                <a:spcPts val="0"/>
              </a:spcAft>
              <a:buNone/>
            </a:pPr>
            <a:r>
              <a:rPr lang="en" sz="1300"/>
              <a:t>    add_dummy_prefix=</a:t>
            </a:r>
            <a:r>
              <a:rPr lang="en" sz="1300" b="1"/>
              <a:t>True </a:t>
            </a:r>
            <a:r>
              <a:rPr lang="en" sz="1300"/>
              <a:t>  </a:t>
            </a:r>
            <a:endParaRPr sz="1300">
              <a:solidFill>
                <a:schemeClr val="accent1"/>
              </a:solidFill>
            </a:endParaRPr>
          </a:p>
          <a:p>
            <a:pPr marL="0" lvl="0" indent="0" algn="l" rtl="0">
              <a:spcBef>
                <a:spcPts val="0"/>
              </a:spcBef>
              <a:spcAft>
                <a:spcPts val="0"/>
              </a:spcAft>
              <a:buNone/>
            </a:pPr>
            <a:r>
              <a:rPr lang="en" sz="1300"/>
              <a:t>)</a:t>
            </a:r>
            <a:endParaRPr sz="1300"/>
          </a:p>
        </p:txBody>
      </p:sp>
      <p:sp>
        <p:nvSpPr>
          <p:cNvPr id="289" name="Google Shape;28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
        <p:nvSpPr>
          <p:cNvPr id="290" name="Google Shape;290;p36"/>
          <p:cNvSpPr txBox="1"/>
          <p:nvPr/>
        </p:nvSpPr>
        <p:spPr>
          <a:xfrm>
            <a:off x="2546933" y="0"/>
            <a:ext cx="44655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Whitespace Handling in SentencePiece </a:t>
            </a:r>
            <a:endParaRPr sz="1800" b="1">
              <a:solidFill>
                <a:schemeClr val="dk1"/>
              </a:solidFill>
            </a:endParaRPr>
          </a:p>
        </p:txBody>
      </p:sp>
      <p:sp>
        <p:nvSpPr>
          <p:cNvPr id="291" name="Google Shape;291;p36"/>
          <p:cNvSpPr txBox="1"/>
          <p:nvPr/>
        </p:nvSpPr>
        <p:spPr>
          <a:xfrm>
            <a:off x="3621402" y="3770825"/>
            <a:ext cx="4863000" cy="9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accent1"/>
                </a:solidFill>
              </a:rPr>
              <a:t>If </a:t>
            </a:r>
            <a:r>
              <a:rPr lang="en" sz="1200" b="1">
                <a:solidFill>
                  <a:schemeClr val="accent1"/>
                </a:solidFill>
              </a:rPr>
              <a:t>add_dummy_prefix </a:t>
            </a:r>
            <a:r>
              <a:rPr lang="en" sz="1200">
                <a:solidFill>
                  <a:schemeClr val="accent1"/>
                </a:solidFill>
              </a:rPr>
              <a:t>is </a:t>
            </a:r>
            <a:r>
              <a:rPr lang="en" sz="1200" b="1">
                <a:solidFill>
                  <a:schemeClr val="accent1"/>
                </a:solidFill>
              </a:rPr>
              <a:t>True</a:t>
            </a:r>
            <a:r>
              <a:rPr lang="en" sz="1200">
                <a:solidFill>
                  <a:schemeClr val="accent1"/>
                </a:solidFill>
              </a:rPr>
              <a:t>, a whitespace marker (▁) will be added at the start of the input. This treats the first word like a word preceded by a space, reducing the need to learn separate token variants for the same word with and without a preceding space.</a:t>
            </a:r>
            <a:endParaRPr sz="12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7"/>
          <p:cNvSpPr txBox="1"/>
          <p:nvPr/>
        </p:nvSpPr>
        <p:spPr>
          <a:xfrm>
            <a:off x="3035400" y="0"/>
            <a:ext cx="3255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tiktoken vs SentencePiece</a:t>
            </a:r>
            <a:endParaRPr sz="1800" b="1">
              <a:solidFill>
                <a:schemeClr val="dk1"/>
              </a:solidFill>
            </a:endParaRPr>
          </a:p>
        </p:txBody>
      </p:sp>
      <p:sp>
        <p:nvSpPr>
          <p:cNvPr id="297" name="Google Shape;29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graphicFrame>
        <p:nvGraphicFramePr>
          <p:cNvPr id="298" name="Google Shape;298;p37"/>
          <p:cNvGraphicFramePr/>
          <p:nvPr/>
        </p:nvGraphicFramePr>
        <p:xfrm>
          <a:off x="248186" y="1154940"/>
          <a:ext cx="8617025" cy="2986830"/>
        </p:xfrm>
        <a:graphic>
          <a:graphicData uri="http://schemas.openxmlformats.org/drawingml/2006/table">
            <a:tbl>
              <a:tblPr>
                <a:noFill/>
                <a:tableStyleId>{D596C1CA-8488-4DA9-8845-881FBA825FD5}</a:tableStyleId>
              </a:tblPr>
              <a:tblGrid>
                <a:gridCol w="1942725">
                  <a:extLst>
                    <a:ext uri="{9D8B030D-6E8A-4147-A177-3AD203B41FA5}">
                      <a16:colId xmlns:a16="http://schemas.microsoft.com/office/drawing/2014/main" val="20000"/>
                    </a:ext>
                  </a:extLst>
                </a:gridCol>
                <a:gridCol w="2452725">
                  <a:extLst>
                    <a:ext uri="{9D8B030D-6E8A-4147-A177-3AD203B41FA5}">
                      <a16:colId xmlns:a16="http://schemas.microsoft.com/office/drawing/2014/main" val="20001"/>
                    </a:ext>
                  </a:extLst>
                </a:gridCol>
                <a:gridCol w="4221575">
                  <a:extLst>
                    <a:ext uri="{9D8B030D-6E8A-4147-A177-3AD203B41FA5}">
                      <a16:colId xmlns:a16="http://schemas.microsoft.com/office/drawing/2014/main" val="20002"/>
                    </a:ext>
                  </a:extLst>
                </a:gridCol>
              </a:tblGrid>
              <a:tr h="0">
                <a:tc>
                  <a:txBody>
                    <a:bodyPr/>
                    <a:lstStyle/>
                    <a:p>
                      <a:pPr marL="0" marR="0" lvl="0" indent="0" algn="ctr" rtl="0">
                        <a:lnSpc>
                          <a:spcPct val="100000"/>
                        </a:lnSpc>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ctr" rtl="0">
                        <a:lnSpc>
                          <a:spcPct val="100000"/>
                        </a:lnSpc>
                        <a:spcBef>
                          <a:spcPts val="0"/>
                        </a:spcBef>
                        <a:spcAft>
                          <a:spcPts val="0"/>
                        </a:spcAft>
                        <a:buNone/>
                      </a:pPr>
                      <a:r>
                        <a:rPr lang="en" b="1"/>
                        <a:t>tiktoken</a:t>
                      </a:r>
                      <a:endParaRPr b="1"/>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None/>
                      </a:pPr>
                      <a:r>
                        <a:rPr lang="en" b="1"/>
                        <a:t>SentencePiece</a:t>
                      </a:r>
                      <a:endParaRPr b="1"/>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None/>
                      </a:pPr>
                      <a:r>
                        <a:rPr lang="en"/>
                        <a:t>Basic representation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UTF-8 bytes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Unicode text / pieces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None/>
                      </a:pPr>
                      <a:r>
                        <a:rPr lang="en"/>
                        <a:t>Tokenization methods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b="1"/>
                        <a:t>BPE</a:t>
                      </a:r>
                      <a:endParaRPr b="1"/>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b="1"/>
                        <a:t>BPE</a:t>
                      </a:r>
                      <a:r>
                        <a:rPr lang="en"/>
                        <a:t>, Unigram, character-level, word-level</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None/>
                      </a:pPr>
                      <a:r>
                        <a:rPr lang="en"/>
                        <a:t>Pre-tokenization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regex constraints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SentencePiece normalization / whitespace scheme</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None/>
                      </a:pPr>
                      <a:r>
                        <a:rPr lang="en"/>
                        <a:t>Training</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primarily prebuilt encodings; educational trainer exists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full tokenizer-training toolkit</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None/>
                      </a:pPr>
                      <a:r>
                        <a:rPr lang="en"/>
                        <a:t>Whitespace</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regex/BPE-dependent</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explicit </a:t>
                      </a:r>
                      <a:r>
                        <a:rPr lang="en" b="1"/>
                        <a:t>“▁”</a:t>
                      </a:r>
                      <a:r>
                        <a:rPr lang="en"/>
                        <a:t> representation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None/>
                      </a:pPr>
                      <a:r>
                        <a:rPr lang="en"/>
                        <a:t>Unknown characters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byte-based representation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b="1"/>
                        <a:t>“&lt;unk&gt;”</a:t>
                      </a:r>
                      <a:r>
                        <a:rPr lang="en"/>
                        <a:t> or optional byte fallback</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p:nvPr/>
        </p:nvSpPr>
        <p:spPr>
          <a:xfrm>
            <a:off x="3578679" y="0"/>
            <a:ext cx="1428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Takeaways</a:t>
            </a:r>
            <a:endParaRPr sz="1800" b="1">
              <a:solidFill>
                <a:schemeClr val="dk1"/>
              </a:solidFill>
            </a:endParaRPr>
          </a:p>
        </p:txBody>
      </p:sp>
      <p:sp>
        <p:nvSpPr>
          <p:cNvPr id="304" name="Google Shape;304;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
        <p:nvSpPr>
          <p:cNvPr id="305" name="Google Shape;305;p38"/>
          <p:cNvSpPr txBox="1"/>
          <p:nvPr/>
        </p:nvSpPr>
        <p:spPr>
          <a:xfrm>
            <a:off x="248550" y="625950"/>
            <a:ext cx="8646900" cy="3532500"/>
          </a:xfrm>
          <a:prstGeom prst="rect">
            <a:avLst/>
          </a:prstGeom>
          <a:noFill/>
          <a:ln>
            <a:noFill/>
          </a:ln>
        </p:spPr>
        <p:txBody>
          <a:bodyPr spcFirstLastPara="1" wrap="square" lIns="91425" tIns="91425" rIns="91425" bIns="91425" anchor="t" anchorCtr="0">
            <a:spAutoFit/>
          </a:bodyPr>
          <a:lstStyle/>
          <a:p>
            <a:pPr marL="457200" lvl="0" indent="-323850" algn="l" rtl="0">
              <a:lnSpc>
                <a:spcPct val="150000"/>
              </a:lnSpc>
              <a:spcBef>
                <a:spcPts val="1200"/>
              </a:spcBef>
              <a:spcAft>
                <a:spcPts val="0"/>
              </a:spcAft>
              <a:buClr>
                <a:schemeClr val="dk1"/>
              </a:buClr>
              <a:buSzPts val="1500"/>
              <a:buChar char="➢"/>
            </a:pPr>
            <a:r>
              <a:rPr lang="en" sz="1500" b="1">
                <a:solidFill>
                  <a:schemeClr val="dk1"/>
                </a:solidFill>
              </a:rPr>
              <a:t>Tokens are the model’s units of text.</a:t>
            </a:r>
            <a:r>
              <a:rPr lang="en" sz="1500">
                <a:solidFill>
                  <a:schemeClr val="dk1"/>
                </a:solidFill>
              </a:rPr>
              <a:t> The tokenizer converts text into a sequence of numerical IDs.</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 sz="1500" b="1">
                <a:solidFill>
                  <a:schemeClr val="dk1"/>
                </a:solidFill>
              </a:rPr>
              <a:t>BPE builds tokens by merging frequent pairs.</a:t>
            </a:r>
            <a:r>
              <a:rPr lang="en" sz="1500">
                <a:solidFill>
                  <a:schemeClr val="dk1"/>
                </a:solidFill>
              </a:rPr>
              <a:t> Its training data shapes which patterns get compact representations.</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 sz="1500" b="1">
                <a:solidFill>
                  <a:schemeClr val="dk1"/>
                </a:solidFill>
              </a:rPr>
              <a:t>Fewer tokens mean more room</a:t>
            </a:r>
            <a:r>
              <a:rPr lang="en" sz="1500">
                <a:solidFill>
                  <a:schemeClr val="dk1"/>
                </a:solidFill>
              </a:rPr>
              <a:t> in the context window. Different languages and formats use that space differently.</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 sz="1500" b="1">
                <a:solidFill>
                  <a:schemeClr val="dk1"/>
                </a:solidFill>
              </a:rPr>
              <a:t>Token boundaries can be surprising.</a:t>
            </a:r>
            <a:r>
              <a:rPr lang="en" sz="1500">
                <a:solidFill>
                  <a:schemeClr val="dk1"/>
                </a:solidFill>
              </a:rPr>
              <a:t> Spaces affect the split, numbers break into chunks, and one character can span multiple tokens when its UTF-8 bytes fall into different tokens. </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 sz="1500" b="1">
                <a:solidFill>
                  <a:schemeClr val="dk1"/>
                </a:solidFill>
              </a:rPr>
              <a:t>Special tokens provide structure.</a:t>
            </a:r>
            <a:r>
              <a:rPr lang="en" sz="1500">
                <a:solidFill>
                  <a:schemeClr val="dk1"/>
                </a:solidFill>
              </a:rPr>
              <a:t> The model learns the format during training, while external software executes tool calls.</a:t>
            </a:r>
            <a:endParaRPr sz="15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txBox="1"/>
          <p:nvPr/>
        </p:nvSpPr>
        <p:spPr>
          <a:xfrm>
            <a:off x="3578679" y="0"/>
            <a:ext cx="1428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References</a:t>
            </a:r>
            <a:endParaRPr sz="1800" b="1">
              <a:solidFill>
                <a:schemeClr val="dk1"/>
              </a:solidFill>
            </a:endParaRPr>
          </a:p>
        </p:txBody>
      </p:sp>
      <p:sp>
        <p:nvSpPr>
          <p:cNvPr id="311" name="Google Shape;311;p39"/>
          <p:cNvSpPr txBox="1"/>
          <p:nvPr/>
        </p:nvSpPr>
        <p:spPr>
          <a:xfrm>
            <a:off x="48750" y="85950"/>
            <a:ext cx="9046500" cy="4971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0"/>
              </a:spcAft>
              <a:buNone/>
            </a:pPr>
            <a:r>
              <a:rPr lang="en" sz="1000" b="1" dirty="0">
                <a:solidFill>
                  <a:schemeClr val="dk1"/>
                </a:solidFill>
              </a:rPr>
              <a:t>Papers</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100" dirty="0">
                <a:solidFill>
                  <a:schemeClr val="dk1"/>
                </a:solidFill>
              </a:rPr>
              <a:t>Gage (1994), </a:t>
            </a:r>
            <a:r>
              <a:rPr lang="en" sz="1100" i="1" dirty="0">
                <a:solidFill>
                  <a:schemeClr val="dk1"/>
                </a:solidFill>
              </a:rPr>
              <a:t>A New Algorithm for Data Compression</a:t>
            </a:r>
            <a:r>
              <a:rPr lang="en" sz="1000" u="sng" dirty="0">
                <a:solidFill>
                  <a:schemeClr val="hlink"/>
                </a:solidFill>
              </a:rPr>
              <a:t> </a:t>
            </a:r>
            <a:r>
              <a:rPr lang="en" sz="1000" u="sng" dirty="0">
                <a:solidFill>
                  <a:schemeClr val="hlink"/>
                </a:solidFill>
                <a:hlinkClick r:id="rId3"/>
              </a:rPr>
              <a:t>https://jacobfilipp.com/DrDobbs/articles/CUJ/1994/9402/gage/gage.htm</a:t>
            </a:r>
            <a:r>
              <a:rPr lang="en" sz="1000" dirty="0">
                <a:solidFill>
                  <a:schemeClr val="dk1"/>
                </a:solidFill>
              </a:rPr>
              <a:t> [Slide 4, Speaker Notes Section]</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Sennrich, Haddow &amp; Birch (2016). </a:t>
            </a:r>
            <a:r>
              <a:rPr lang="en" sz="1000" i="1" dirty="0">
                <a:solidFill>
                  <a:schemeClr val="dk1"/>
                </a:solidFill>
              </a:rPr>
              <a:t>Neural Machine Translation of Rare Words with Subword Units.</a:t>
            </a:r>
            <a:r>
              <a:rPr lang="en" sz="1000" dirty="0">
                <a:solidFill>
                  <a:schemeClr val="dk1"/>
                </a:solidFill>
                <a:uFill>
                  <a:noFill/>
                </a:uFill>
                <a:hlinkClick r:id="rId4">
                  <a:extLst>
                    <a:ext uri="{A12FA001-AC4F-418D-AE19-62706E023703}">
                      <ahyp:hlinkClr xmlns:ahyp="http://schemas.microsoft.com/office/drawing/2018/hyperlinkcolor" val="tx"/>
                    </a:ext>
                  </a:extLst>
                </a:hlinkClick>
              </a:rPr>
              <a:t> </a:t>
            </a:r>
            <a:r>
              <a:rPr lang="en" sz="1000" u="sng" dirty="0">
                <a:solidFill>
                  <a:schemeClr val="hlink"/>
                </a:solidFill>
                <a:hlinkClick r:id="rId4"/>
              </a:rPr>
              <a:t>https://arxiv.org/abs/1508.07909</a:t>
            </a:r>
            <a:r>
              <a:rPr lang="en" sz="1000" dirty="0">
                <a:solidFill>
                  <a:schemeClr val="dk1"/>
                </a:solidFill>
              </a:rPr>
              <a:t> [Slide 4, Speaker Notes Section]</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Radford et al. (2019). </a:t>
            </a:r>
            <a:r>
              <a:rPr lang="en" sz="1000" i="1" dirty="0">
                <a:solidFill>
                  <a:schemeClr val="dk1"/>
                </a:solidFill>
              </a:rPr>
              <a:t>Language Models are Unsupervised Multitask Learners</a:t>
            </a:r>
            <a:r>
              <a:rPr lang="en" sz="1000" dirty="0">
                <a:solidFill>
                  <a:schemeClr val="dk1"/>
                </a:solidFill>
              </a:rPr>
              <a:t> (GPT-2).</a:t>
            </a:r>
            <a:r>
              <a:rPr lang="en" sz="1000" dirty="0">
                <a:solidFill>
                  <a:schemeClr val="dk1"/>
                </a:solidFill>
                <a:uFill>
                  <a:noFill/>
                </a:uFill>
                <a:hlinkClick r:id="rId5">
                  <a:extLst>
                    <a:ext uri="{A12FA001-AC4F-418D-AE19-62706E023703}">
                      <ahyp:hlinkClr xmlns:ahyp="http://schemas.microsoft.com/office/drawing/2018/hyperlinkcolor" val="tx"/>
                    </a:ext>
                  </a:extLst>
                </a:hlinkClick>
              </a:rPr>
              <a:t> </a:t>
            </a:r>
            <a:r>
              <a:rPr lang="en" sz="1000" u="sng" dirty="0">
                <a:solidFill>
                  <a:schemeClr val="hlink"/>
                </a:solidFill>
                <a:hlinkClick r:id="rId5"/>
              </a:rPr>
              <a:t>https://cdn.openai.com/better-language-models/language_models_are_unsupervised_multitask_learners.pdf</a:t>
            </a:r>
            <a:r>
              <a:rPr lang="en" sz="1000" dirty="0">
                <a:solidFill>
                  <a:schemeClr val="dk1"/>
                </a:solidFill>
              </a:rPr>
              <a:t> [Slide 4, Speaker Notes Section]</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Bavarian et al. (2022). </a:t>
            </a:r>
            <a:r>
              <a:rPr lang="en" sz="1000" i="1" dirty="0">
                <a:solidFill>
                  <a:schemeClr val="dk1"/>
                </a:solidFill>
              </a:rPr>
              <a:t>Efficient Training of Language Models to Fill in the Middle.</a:t>
            </a:r>
            <a:r>
              <a:rPr lang="en" sz="1000" dirty="0">
                <a:solidFill>
                  <a:schemeClr val="dk1"/>
                </a:solidFill>
                <a:uFill>
                  <a:noFill/>
                </a:uFill>
                <a:hlinkClick r:id="rId6">
                  <a:extLst>
                    <a:ext uri="{A12FA001-AC4F-418D-AE19-62706E023703}">
                      <ahyp:hlinkClr xmlns:ahyp="http://schemas.microsoft.com/office/drawing/2018/hyperlinkcolor" val="tx"/>
                    </a:ext>
                  </a:extLst>
                </a:hlinkClick>
              </a:rPr>
              <a:t> </a:t>
            </a:r>
            <a:r>
              <a:rPr lang="en" sz="1000" u="sng" dirty="0">
                <a:solidFill>
                  <a:schemeClr val="hlink"/>
                </a:solidFill>
                <a:hlinkClick r:id="rId6"/>
              </a:rPr>
              <a:t>https://arxiv.org/abs/2207.14255</a:t>
            </a:r>
            <a:r>
              <a:rPr lang="en" sz="1000" dirty="0">
                <a:solidFill>
                  <a:schemeClr val="dk1"/>
                </a:solidFill>
              </a:rPr>
              <a:t> [Slide 16, Speaker Notes Section]</a:t>
            </a:r>
            <a:endParaRPr sz="1000" dirty="0">
              <a:solidFill>
                <a:schemeClr val="dk1"/>
              </a:solidFill>
            </a:endParaRPr>
          </a:p>
          <a:p>
            <a:pPr marL="0" lvl="0" indent="0" algn="l" rtl="0">
              <a:lnSpc>
                <a:spcPct val="100000"/>
              </a:lnSpc>
              <a:spcBef>
                <a:spcPts val="1200"/>
              </a:spcBef>
              <a:spcAft>
                <a:spcPts val="0"/>
              </a:spcAft>
              <a:buNone/>
            </a:pPr>
            <a:r>
              <a:rPr lang="en" sz="1000" b="1" dirty="0">
                <a:solidFill>
                  <a:schemeClr val="dk1"/>
                </a:solidFill>
              </a:rPr>
              <a:t>Video</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000" dirty="0">
                <a:solidFill>
                  <a:schemeClr val="dk1"/>
                </a:solidFill>
              </a:rPr>
              <a:t>Andrej Karpathy. </a:t>
            </a:r>
            <a:r>
              <a:rPr lang="en" sz="1000" i="1" dirty="0">
                <a:solidFill>
                  <a:schemeClr val="dk1"/>
                </a:solidFill>
              </a:rPr>
              <a:t>Let's build the GPT Tokenizer.</a:t>
            </a:r>
            <a:r>
              <a:rPr lang="en" sz="1000" dirty="0">
                <a:solidFill>
                  <a:schemeClr val="dk1"/>
                </a:solidFill>
                <a:uFill>
                  <a:noFill/>
                </a:uFill>
                <a:hlinkClick r:id="rId7">
                  <a:extLst>
                    <a:ext uri="{A12FA001-AC4F-418D-AE19-62706E023703}">
                      <ahyp:hlinkClr xmlns:ahyp="http://schemas.microsoft.com/office/drawing/2018/hyperlinkcolor" val="tx"/>
                    </a:ext>
                  </a:extLst>
                </a:hlinkClick>
              </a:rPr>
              <a:t> </a:t>
            </a:r>
            <a:r>
              <a:rPr lang="en" sz="1000" u="sng" dirty="0">
                <a:solidFill>
                  <a:schemeClr val="hlink"/>
                </a:solidFill>
                <a:hlinkClick r:id="rId7"/>
              </a:rPr>
              <a:t>https://www.youtube.com/watch?v=zduSFxRajkE</a:t>
            </a:r>
            <a:r>
              <a:rPr lang="en" sz="1000" dirty="0">
                <a:solidFill>
                  <a:schemeClr val="dk1"/>
                </a:solidFill>
              </a:rPr>
              <a:t> [Slide 23, Speaker Notes Section]</a:t>
            </a:r>
            <a:endParaRPr sz="1000" dirty="0">
              <a:solidFill>
                <a:schemeClr val="dk1"/>
              </a:solidFill>
            </a:endParaRPr>
          </a:p>
          <a:p>
            <a:pPr marL="0" lvl="0" indent="0" algn="l" rtl="0">
              <a:lnSpc>
                <a:spcPct val="100000"/>
              </a:lnSpc>
              <a:spcBef>
                <a:spcPts val="1200"/>
              </a:spcBef>
              <a:spcAft>
                <a:spcPts val="0"/>
              </a:spcAft>
              <a:buNone/>
            </a:pPr>
            <a:r>
              <a:rPr lang="en" sz="1000" b="1" dirty="0">
                <a:solidFill>
                  <a:schemeClr val="dk1"/>
                </a:solidFill>
              </a:rPr>
              <a:t>Code and libraries</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000" dirty="0">
                <a:solidFill>
                  <a:schemeClr val="dk1"/>
                </a:solidFill>
              </a:rPr>
              <a:t>OpenAI GPT-2 encoder:</a:t>
            </a:r>
            <a:r>
              <a:rPr lang="en" sz="1000" dirty="0">
                <a:solidFill>
                  <a:schemeClr val="dk1"/>
                </a:solidFill>
                <a:uFill>
                  <a:noFill/>
                </a:uFill>
                <a:hlinkClick r:id="rId8">
                  <a:extLst>
                    <a:ext uri="{A12FA001-AC4F-418D-AE19-62706E023703}">
                      <ahyp:hlinkClr xmlns:ahyp="http://schemas.microsoft.com/office/drawing/2018/hyperlinkcolor" val="tx"/>
                    </a:ext>
                  </a:extLst>
                </a:hlinkClick>
              </a:rPr>
              <a:t> </a:t>
            </a:r>
            <a:r>
              <a:rPr lang="en" sz="1000" u="sng" dirty="0">
                <a:solidFill>
                  <a:schemeClr val="hlink"/>
                </a:solidFill>
                <a:hlinkClick r:id="rId8"/>
              </a:rPr>
              <a:t>https://github.com/openai/gpt-2/blob/master/src/encoder.py</a:t>
            </a:r>
            <a:r>
              <a:rPr lang="en" sz="1000" dirty="0">
                <a:solidFill>
                  <a:schemeClr val="dk1"/>
                </a:solidFill>
              </a:rPr>
              <a:t> [Slide 14]</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tiktoken:</a:t>
            </a:r>
            <a:r>
              <a:rPr lang="en" sz="1000" dirty="0">
                <a:solidFill>
                  <a:schemeClr val="dk1"/>
                </a:solidFill>
                <a:uFill>
                  <a:noFill/>
                </a:uFill>
                <a:hlinkClick r:id="rId9">
                  <a:extLst>
                    <a:ext uri="{A12FA001-AC4F-418D-AE19-62706E023703}">
                      <ahyp:hlinkClr xmlns:ahyp="http://schemas.microsoft.com/office/drawing/2018/hyperlinkcolor" val="tx"/>
                    </a:ext>
                  </a:extLst>
                </a:hlinkClick>
              </a:rPr>
              <a:t> </a:t>
            </a:r>
            <a:r>
              <a:rPr lang="en" sz="1000" u="sng" dirty="0">
                <a:solidFill>
                  <a:schemeClr val="hlink"/>
                </a:solidFill>
                <a:hlinkClick r:id="rId9"/>
              </a:rPr>
              <a:t>https://github.com/openai/tiktoken</a:t>
            </a:r>
            <a:r>
              <a:rPr lang="en" sz="1000" dirty="0">
                <a:solidFill>
                  <a:schemeClr val="dk1"/>
                </a:solidFill>
              </a:rPr>
              <a:t> [Slide 19]</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tiktoken encodings (cl100k_base regex):</a:t>
            </a:r>
            <a:r>
              <a:rPr lang="en" sz="1000" dirty="0">
                <a:solidFill>
                  <a:schemeClr val="dk1"/>
                </a:solidFill>
                <a:uFill>
                  <a:noFill/>
                </a:uFill>
                <a:hlinkClick r:id="rId10">
                  <a:extLst>
                    <a:ext uri="{A12FA001-AC4F-418D-AE19-62706E023703}">
                      <ahyp:hlinkClr xmlns:ahyp="http://schemas.microsoft.com/office/drawing/2018/hyperlinkcolor" val="tx"/>
                    </a:ext>
                  </a:extLst>
                </a:hlinkClick>
              </a:rPr>
              <a:t> </a:t>
            </a:r>
            <a:r>
              <a:rPr lang="en" sz="1000" u="sng" dirty="0">
                <a:solidFill>
                  <a:schemeClr val="hlink"/>
                </a:solidFill>
                <a:hlinkClick r:id="rId10"/>
              </a:rPr>
              <a:t>https://github.com/openai/tiktoken/blob/main/tiktoken_ext/openai_public.py</a:t>
            </a:r>
            <a:r>
              <a:rPr lang="en" sz="1000" dirty="0">
                <a:solidFill>
                  <a:schemeClr val="dk1"/>
                </a:solidFill>
              </a:rPr>
              <a:t> [Slides 15, 16]</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tiktoken special tokens (lib.rs):</a:t>
            </a:r>
            <a:r>
              <a:rPr lang="en" sz="1000" dirty="0">
                <a:solidFill>
                  <a:schemeClr val="dk1"/>
                </a:solidFill>
                <a:uFill>
                  <a:noFill/>
                </a:uFill>
                <a:hlinkClick r:id="rId11">
                  <a:extLst>
                    <a:ext uri="{A12FA001-AC4F-418D-AE19-62706E023703}">
                      <ahyp:hlinkClr xmlns:ahyp="http://schemas.microsoft.com/office/drawing/2018/hyperlinkcolor" val="tx"/>
                    </a:ext>
                  </a:extLst>
                </a:hlinkClick>
              </a:rPr>
              <a:t> </a:t>
            </a:r>
            <a:r>
              <a:rPr lang="en" sz="1000" u="sng" dirty="0">
                <a:solidFill>
                  <a:schemeClr val="hlink"/>
                </a:solidFill>
                <a:hlinkClick r:id="rId11"/>
              </a:rPr>
              <a:t>https://github.com/openai/tiktoken/blob/main/src/lib.rs</a:t>
            </a:r>
            <a:r>
              <a:rPr lang="en" sz="1000" dirty="0">
                <a:solidFill>
                  <a:schemeClr val="dk1"/>
                </a:solidFill>
              </a:rPr>
              <a:t> [Slide 17]</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Extending tiktoken:</a:t>
            </a:r>
            <a:r>
              <a:rPr lang="en" sz="1000" dirty="0">
                <a:solidFill>
                  <a:schemeClr val="dk1"/>
                </a:solidFill>
                <a:uFill>
                  <a:noFill/>
                </a:uFill>
                <a:hlinkClick r:id="rId12">
                  <a:extLst>
                    <a:ext uri="{A12FA001-AC4F-418D-AE19-62706E023703}">
                      <ahyp:hlinkClr xmlns:ahyp="http://schemas.microsoft.com/office/drawing/2018/hyperlinkcolor" val="tx"/>
                    </a:ext>
                  </a:extLst>
                </a:hlinkClick>
              </a:rPr>
              <a:t> </a:t>
            </a:r>
            <a:r>
              <a:rPr lang="en" sz="1000" u="sng" dirty="0">
                <a:solidFill>
                  <a:schemeClr val="hlink"/>
                </a:solidFill>
                <a:hlinkClick r:id="rId12"/>
              </a:rPr>
              <a:t>https://github.com/openai/tiktoken#extending-tiktoken</a:t>
            </a:r>
            <a:r>
              <a:rPr lang="en" sz="1000" dirty="0">
                <a:solidFill>
                  <a:schemeClr val="dk1"/>
                </a:solidFill>
              </a:rPr>
              <a:t> [Slide 20]</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SentencePiece:</a:t>
            </a:r>
            <a:r>
              <a:rPr lang="en" sz="1000" dirty="0">
                <a:solidFill>
                  <a:schemeClr val="dk1"/>
                </a:solidFill>
                <a:uFill>
                  <a:noFill/>
                </a:uFill>
                <a:hlinkClick r:id="rId13">
                  <a:extLst>
                    <a:ext uri="{A12FA001-AC4F-418D-AE19-62706E023703}">
                      <ahyp:hlinkClr xmlns:ahyp="http://schemas.microsoft.com/office/drawing/2018/hyperlinkcolor" val="tx"/>
                    </a:ext>
                  </a:extLst>
                </a:hlinkClick>
              </a:rPr>
              <a:t> </a:t>
            </a:r>
            <a:r>
              <a:rPr lang="en" sz="1000" u="sng" dirty="0">
                <a:solidFill>
                  <a:schemeClr val="hlink"/>
                </a:solidFill>
                <a:hlinkClick r:id="rId13"/>
              </a:rPr>
              <a:t>https://github.com/google/sentencepiece</a:t>
            </a:r>
            <a:r>
              <a:rPr lang="en" sz="1000" dirty="0">
                <a:solidFill>
                  <a:schemeClr val="dk1"/>
                </a:solidFill>
              </a:rPr>
              <a:t> [Slides 22, 23, 24, 25]</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Jupyter notebook:</a:t>
            </a:r>
            <a:r>
              <a:rPr lang="en" sz="1000" dirty="0">
                <a:solidFill>
                  <a:schemeClr val="dk1"/>
                </a:solidFill>
                <a:uFill>
                  <a:noFill/>
                </a:uFill>
                <a:hlinkClick r:id="rId14">
                  <a:extLst>
                    <a:ext uri="{A12FA001-AC4F-418D-AE19-62706E023703}">
                      <ahyp:hlinkClr xmlns:ahyp="http://schemas.microsoft.com/office/drawing/2018/hyperlinkcolor" val="tx"/>
                    </a:ext>
                  </a:extLst>
                </a:hlinkClick>
              </a:rPr>
              <a:t> </a:t>
            </a:r>
            <a:r>
              <a:rPr lang="en" sz="1000" u="sng" dirty="0">
                <a:solidFill>
                  <a:schemeClr val="hlink"/>
                </a:solidFill>
                <a:hlinkClick r:id="rId14"/>
              </a:rPr>
              <a:t>https://github.com/ducspe/UnderstandingTokenization/blob/main/BPE_Tokenizer_Notebook.ipynb</a:t>
            </a:r>
            <a:r>
              <a:rPr lang="en" sz="1000" dirty="0">
                <a:solidFill>
                  <a:schemeClr val="dk1"/>
                </a:solidFill>
              </a:rPr>
              <a:t> [Slide 13]</a:t>
            </a:r>
            <a:endParaRPr sz="1000" dirty="0">
              <a:solidFill>
                <a:schemeClr val="dk1"/>
              </a:solidFill>
            </a:endParaRPr>
          </a:p>
          <a:p>
            <a:pPr marL="0" lvl="0" indent="0" algn="l" rtl="0">
              <a:lnSpc>
                <a:spcPct val="100000"/>
              </a:lnSpc>
              <a:spcBef>
                <a:spcPts val="1200"/>
              </a:spcBef>
              <a:spcAft>
                <a:spcPts val="0"/>
              </a:spcAft>
              <a:buNone/>
            </a:pPr>
            <a:r>
              <a:rPr lang="en" sz="1000" b="1" dirty="0">
                <a:solidFill>
                  <a:schemeClr val="dk1"/>
                </a:solidFill>
              </a:rPr>
              <a:t>Tools, courses and articles</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000" dirty="0">
                <a:solidFill>
                  <a:schemeClr val="dk1"/>
                </a:solidFill>
              </a:rPr>
              <a:t>Tiktokenizer:</a:t>
            </a:r>
            <a:r>
              <a:rPr lang="en" sz="1000" dirty="0">
                <a:solidFill>
                  <a:schemeClr val="dk1"/>
                </a:solidFill>
                <a:uFill>
                  <a:noFill/>
                </a:uFill>
                <a:hlinkClick r:id="rId15">
                  <a:extLst>
                    <a:ext uri="{A12FA001-AC4F-418D-AE19-62706E023703}">
                      <ahyp:hlinkClr xmlns:ahyp="http://schemas.microsoft.com/office/drawing/2018/hyperlinkcolor" val="tx"/>
                    </a:ext>
                  </a:extLst>
                </a:hlinkClick>
              </a:rPr>
              <a:t> </a:t>
            </a:r>
            <a:r>
              <a:rPr lang="en" sz="1000" u="sng" dirty="0">
                <a:solidFill>
                  <a:schemeClr val="hlink"/>
                </a:solidFill>
                <a:hlinkClick r:id="rId15"/>
              </a:rPr>
              <a:t>https://tiktokenizer.vercel.app/</a:t>
            </a:r>
            <a:r>
              <a:rPr lang="en" sz="1000" dirty="0">
                <a:solidFill>
                  <a:schemeClr val="dk1"/>
                </a:solidFill>
              </a:rPr>
              <a:t> [Slides 7, 9, 10, 11, 17, 18, 24]</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Hugging Face LLM Course, BPE chapter:</a:t>
            </a:r>
            <a:r>
              <a:rPr lang="en" sz="1000" dirty="0">
                <a:solidFill>
                  <a:schemeClr val="dk1"/>
                </a:solidFill>
                <a:uFill>
                  <a:noFill/>
                </a:uFill>
                <a:hlinkClick r:id="rId16">
                  <a:extLst>
                    <a:ext uri="{A12FA001-AC4F-418D-AE19-62706E023703}">
                      <ahyp:hlinkClr xmlns:ahyp="http://schemas.microsoft.com/office/drawing/2018/hyperlinkcolor" val="tx"/>
                    </a:ext>
                  </a:extLst>
                </a:hlinkClick>
              </a:rPr>
              <a:t> </a:t>
            </a:r>
            <a:r>
              <a:rPr lang="en" sz="1000" u="sng" dirty="0">
                <a:solidFill>
                  <a:schemeClr val="hlink"/>
                </a:solidFill>
                <a:hlinkClick r:id="rId16"/>
              </a:rPr>
              <a:t>https://huggingface.co/learn/llm-course/en/chapter6/5</a:t>
            </a:r>
            <a:r>
              <a:rPr lang="en" sz="1000" dirty="0">
                <a:solidFill>
                  <a:schemeClr val="dk1"/>
                </a:solidFill>
              </a:rPr>
              <a:t> [Slide 5]</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Beren Millidge. </a:t>
            </a:r>
            <a:r>
              <a:rPr lang="en" sz="1000" i="1" dirty="0">
                <a:solidFill>
                  <a:schemeClr val="dk1"/>
                </a:solidFill>
              </a:rPr>
              <a:t>Integer tokenization is insane.</a:t>
            </a:r>
            <a:r>
              <a:rPr lang="en" sz="1000" dirty="0">
                <a:solidFill>
                  <a:schemeClr val="dk1"/>
                </a:solidFill>
                <a:uFill>
                  <a:noFill/>
                </a:uFill>
                <a:hlinkClick r:id="rId17">
                  <a:extLst>
                    <a:ext uri="{A12FA001-AC4F-418D-AE19-62706E023703}">
                      <ahyp:hlinkClr xmlns:ahyp="http://schemas.microsoft.com/office/drawing/2018/hyperlinkcolor" val="tx"/>
                    </a:ext>
                  </a:extLst>
                </a:hlinkClick>
              </a:rPr>
              <a:t> </a:t>
            </a:r>
            <a:r>
              <a:rPr lang="en" sz="1000" u="sng" dirty="0">
                <a:solidFill>
                  <a:schemeClr val="hlink"/>
                </a:solidFill>
                <a:hlinkClick r:id="rId17"/>
              </a:rPr>
              <a:t>https://www.beren.io/2023-02-04-Integer-tokenization-is-insane/</a:t>
            </a:r>
            <a:r>
              <a:rPr lang="en" sz="1000" dirty="0">
                <a:solidFill>
                  <a:schemeClr val="dk1"/>
                </a:solidFill>
              </a:rPr>
              <a:t> [Slide 8]</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Nathan Reed. </a:t>
            </a:r>
            <a:r>
              <a:rPr lang="en" sz="1000" i="1" dirty="0">
                <a:solidFill>
                  <a:schemeClr val="dk1"/>
                </a:solidFill>
              </a:rPr>
              <a:t>A Programmer's Introduction to Unicode.</a:t>
            </a:r>
            <a:r>
              <a:rPr lang="en" sz="1000" dirty="0">
                <a:solidFill>
                  <a:schemeClr val="dk1"/>
                </a:solidFill>
                <a:uFill>
                  <a:noFill/>
                </a:uFill>
                <a:hlinkClick r:id="rId18">
                  <a:extLst>
                    <a:ext uri="{A12FA001-AC4F-418D-AE19-62706E023703}">
                      <ahyp:hlinkClr xmlns:ahyp="http://schemas.microsoft.com/office/drawing/2018/hyperlinkcolor" val="tx"/>
                    </a:ext>
                  </a:extLst>
                </a:hlinkClick>
              </a:rPr>
              <a:t> </a:t>
            </a:r>
            <a:r>
              <a:rPr lang="en" sz="1000" u="sng" dirty="0">
                <a:solidFill>
                  <a:schemeClr val="hlink"/>
                </a:solidFill>
                <a:hlinkClick r:id="rId18"/>
              </a:rPr>
              <a:t>https://www.reedbeta.com/blog/programmers-intro-to-unicode/</a:t>
            </a:r>
            <a:r>
              <a:rPr lang="en" sz="1000" dirty="0">
                <a:solidFill>
                  <a:schemeClr val="dk1"/>
                </a:solidFill>
              </a:rPr>
              <a:t> [Slide 12]</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Wikipedia: UTF-8.</a:t>
            </a:r>
            <a:r>
              <a:rPr lang="en" sz="1000" dirty="0">
                <a:solidFill>
                  <a:schemeClr val="dk1"/>
                </a:solidFill>
                <a:uFill>
                  <a:noFill/>
                </a:uFill>
                <a:hlinkClick r:id="rId19">
                  <a:extLst>
                    <a:ext uri="{A12FA001-AC4F-418D-AE19-62706E023703}">
                      <ahyp:hlinkClr xmlns:ahyp="http://schemas.microsoft.com/office/drawing/2018/hyperlinkcolor" val="tx"/>
                    </a:ext>
                  </a:extLst>
                </a:hlinkClick>
              </a:rPr>
              <a:t> </a:t>
            </a:r>
            <a:r>
              <a:rPr lang="en" sz="1000" u="sng" dirty="0">
                <a:solidFill>
                  <a:schemeClr val="hlink"/>
                </a:solidFill>
                <a:hlinkClick r:id="rId19"/>
              </a:rPr>
              <a:t>https://en.wikipedia.org/wiki/UTF-8</a:t>
            </a:r>
            <a:r>
              <a:rPr lang="en" sz="1000" dirty="0">
                <a:solidFill>
                  <a:schemeClr val="dk1"/>
                </a:solidFill>
              </a:rPr>
              <a:t> [Slide 12]</a:t>
            </a:r>
            <a:endParaRPr sz="1000"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3235</Words>
  <Application>Microsoft Office PowerPoint</Application>
  <PresentationFormat>On-screen Show (16:9)</PresentationFormat>
  <Paragraphs>286</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Caus, Danu</cp:lastModifiedBy>
  <cp:revision>1</cp:revision>
  <dcterms:modified xsi:type="dcterms:W3CDTF">2026-10-02T10:39:55Z</dcterms:modified>
</cp:coreProperties>
</file>